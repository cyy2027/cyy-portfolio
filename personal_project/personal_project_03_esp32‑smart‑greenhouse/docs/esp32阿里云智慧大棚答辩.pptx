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 strictFirstAndLastChars="0">
  <p:sldMasterIdLst>
    <p:sldMasterId id="2147483676" r:id="rId1"/>
    <p:sldMasterId id="2147483677" r:id="rId2"/>
  </p:sldMasterIdLst>
  <p:notesMasterIdLst>
    <p:notesMasterId r:id="rId3"/>
  </p:notesMasterIdLst>
  <p:sldIdLst>
    <p:sldId id="331" r:id="rId4"/>
    <p:sldId id="332" r:id="rId5"/>
    <p:sldId id="333" r:id="rId6"/>
    <p:sldId id="334" r:id="rId7"/>
    <p:sldId id="335" r:id="rId8"/>
    <p:sldId id="336" r:id="rId9"/>
    <p:sldId id="337" r:id="rId10"/>
    <p:sldId id="338" r:id="rId11"/>
    <p:sldId id="339" r:id="rId12"/>
    <p:sldId id="340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49" r:id="rId21"/>
  </p:sldIdLst>
  <p:sldSz type="screen16x9" cy="6858000" cx="12192000"/>
  <p:notesSz cx="6858000" cy="9144000"/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L="45720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L="91440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L="137160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L="182880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L="228600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L="274320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L="320040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L="365760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tableStyles" Target="tableStyle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96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1048964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cs-CZ"/>
          </a:p>
        </p:txBody>
      </p:sp>
      <p:sp>
        <p:nvSpPr>
          <p:cNvPr id="104896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104896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96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58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582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58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="0" sz="1400" i="0" strike="noStrike" u="none"/>
            </a:lvl1pPr>
          </a:lstStyle>
          <a:p>
            <a:pPr algn="l" indent="0">
              <a:lnSpc>
                <a:spcPct val="100000"/>
              </a:lnSpc>
            </a:pPr>
            <a:r>
              <a:rPr b="0" sz="1400" i="0" lang="en-US" strike="noStrike" u="none">
                <a:solidFill>
                  <a:srgbClr val="000000"/>
                </a:solidFill>
              </a:rPr>
              <a:t>尊敬的各位评委老师，大家上午好。我是[你的姓名]，我的毕业设计题目是“阿里云智能大棚系统设计与实现”。今天，我将从项目背景、系统架构、核心功能、实现流程以及创新点等几个方面，向各位老师汇报我的研究成果。</a:t>
            </a:r>
          </a:p>
        </p:txBody>
      </p:sp>
      <p:sp>
        <p:nvSpPr>
          <p:cNvPr id="104858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58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1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613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61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="0" sz="1400" i="0" strike="noStrike" u="none"/>
            </a:lvl1pPr>
          </a:lstStyle>
          <a:p>
            <a:pPr algn="l" indent="0">
              <a:lnSpc>
                <a:spcPct val="100000"/>
              </a:lnSpc>
            </a:pPr>
            <a:r>
              <a:rPr b="0" sz="1400" i="0" lang="en-US" strike="noStrike" u="none">
                <a:solidFill>
                  <a:srgbClr val="000000"/>
                </a:solidFill>
              </a:rPr>
              <a:t>本次答辩将围绕六个核心部分展开。首先，我会介绍项目的背景和目标；接着，详细阐述系统的总体架构；然后，深入讲解系统的核心功能；之后，展示系统的实现过程；最后，总结项目的创新点并对未来进行展望。</a:t>
            </a:r>
          </a:p>
        </p:txBody>
      </p:sp>
      <p:sp>
        <p:nvSpPr>
          <p:cNvPr id="104861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1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3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633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63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="0" sz="1400" i="0" strike="noStrike" u="none"/>
            </a:lvl1pPr>
          </a:lstStyle>
          <a:p>
            <a:pPr algn="l" indent="0">
              <a:lnSpc>
                <a:spcPct val="100000"/>
              </a:lnSpc>
            </a:pPr>
            <a:r>
              <a:rPr b="0" sz="1400" i="0" lang="en-US" strike="noStrike" u="none">
                <a:solidFill>
                  <a:srgbClr val="000000"/>
                </a:solidFill>
              </a:rPr>
              <a:t>首先我们来看项目背景。传统农业面临着诸多挑战，比如高度依赖人力、管理效率低下、缺乏数据支持以及管理上的时空限制。这些问题不仅增加了生产成本，也限制了农业生产力的进一步提升。</a:t>
            </a:r>
          </a:p>
        </p:txBody>
      </p:sp>
      <p:sp>
        <p:nvSpPr>
          <p:cNvPr id="104863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3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4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649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65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="0" sz="1400" i="0" strike="noStrike" u="none"/>
            </a:lvl1pPr>
          </a:lstStyle>
          <a:p>
            <a:pPr algn="l" indent="0">
              <a:lnSpc>
                <a:spcPct val="100000"/>
              </a:lnSpc>
            </a:pPr>
            <a:r>
              <a:rPr b="0" sz="1400" i="0" lang="en-US" strike="noStrike" u="none">
                <a:solidFill>
                  <a:srgbClr val="000000"/>
                </a:solidFill>
              </a:rPr>
              <a:t>随着物联网、云计算等技术的发展，智慧农业应运而生。它能够实现精准可控的环境管理，有效降低成本、提高效率，并支持远程管理，为解决传统农业的痛点提供了全新的解决方案。本项目正是基于这一背景展开的。</a:t>
            </a:r>
          </a:p>
        </p:txBody>
      </p:sp>
      <p:sp>
        <p:nvSpPr>
          <p:cNvPr id="104865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5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667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6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="0" sz="1400" i="0" strike="noStrike" u="none"/>
            </a:lvl1pPr>
          </a:lstStyle>
          <a:p>
            <a:pPr algn="l" indent="0">
              <a:lnSpc>
                <a:spcPct val="100000"/>
              </a:lnSpc>
            </a:pPr>
            <a:r>
              <a:rPr b="0" sz="1400" i="0" lang="en-US" strike="noStrike" u="none">
                <a:solidFill>
                  <a:srgbClr val="000000"/>
                </a:solidFill>
              </a:rPr>
              <a:t>基于以上背景，本项目设定了五个核心目标：实现多维度的数据采集、智能控制与手动控制相结合、提供远程监控与配置功能，并在设备端集成本地显示，旨在打造一个低成本、高集成度的智能大棚解决方案。</a:t>
            </a:r>
          </a:p>
        </p:txBody>
      </p:sp>
      <p:sp>
        <p:nvSpPr>
          <p:cNvPr id="10486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8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685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68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="0" sz="1400" i="0" strike="noStrike" u="none"/>
            </a:lvl1pPr>
          </a:lstStyle>
          <a:p>
            <a:pPr algn="l" indent="0">
              <a:lnSpc>
                <a:spcPct val="100000"/>
              </a:lnSpc>
            </a:pPr>
            <a:r>
              <a:rPr b="0" sz="1400" i="0" lang="en-US" strike="noStrike" u="none">
                <a:solidFill>
                  <a:srgbClr val="000000"/>
                </a:solidFill>
              </a:rPr>
              <a:t>接下来介绍系统的总体架构。首先是硬件架构，它以ESP32开发板为核心大脑，连接了用于感知环境的各类传感器，如温湿度、土壤湿度和光照传感器，以及用于执行控制的继电器和LED灯，并通过OLED显示屏进行本地状态显示。</a:t>
            </a:r>
          </a:p>
        </p:txBody>
      </p:sp>
      <p:sp>
        <p:nvSpPr>
          <p:cNvPr id="104868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8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0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701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70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="0" sz="1400" i="0" strike="noStrike" u="none"/>
            </a:lvl1pPr>
          </a:lstStyle>
          <a:p>
            <a:pPr algn="l" indent="0">
              <a:lnSpc>
                <a:spcPct val="100000"/>
              </a:lnSpc>
            </a:pPr>
            <a:r>
              <a:rPr b="0" sz="1400" i="0" lang="en-US" strike="noStrike" u="none">
                <a:solidFill>
                  <a:srgbClr val="000000"/>
                </a:solidFill>
              </a:rPr>
              <a:t>这张图展示了我们系统所使用的核心硬件组件。左上角是ESP32开发板，它是整个系统的“大脑”，负责数据的采集、运算与通信。右上角展示了我们集成的温湿度、土壤湿度和光照传感器，它们就像系统的“五官”，负责感知环境变化。左下角是继电器模块，它作为“手脚”执行具体的设备控制任务，比如开关水泵和风扇。右下角则是OLED显示屏，为用户提供了本地的可视化数据展示界面。这些组件共同构成了一个完整的闭环控制系统。</a:t>
            </a:r>
          </a:p>
        </p:txBody>
      </p:sp>
      <p:sp>
        <p:nvSpPr>
          <p:cNvPr id="104870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0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3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731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73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="0" sz="1400" i="0" strike="noStrike" u="none"/>
            </a:lvl1pPr>
          </a:lstStyle>
          <a:p>
            <a:pPr algn="l" indent="0">
              <a:lnSpc>
                <a:spcPct val="100000"/>
              </a:lnSpc>
            </a:pPr>
            <a:r>
              <a:rPr b="0" sz="1400" i="0" lang="en-US" strike="noStrike" u="none">
                <a:solidFill>
                  <a:srgbClr val="000000"/>
                </a:solidFill>
              </a:rPr>
              <a:t>软件架构方面，我们采用了分层设计。从底层的硬件驱动，到数据采集与控制，再到网络通信、云端平台，最后到用户交互层，形成了一个完整的从端到云的数据流闭环。数据通过MQTT协议上传至阿里云平台，用户则通过APP与云端交互，实现远程控制。</a:t>
            </a:r>
          </a:p>
        </p:txBody>
      </p:sp>
      <p:sp>
        <p:nvSpPr>
          <p:cNvPr id="104873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3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4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748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74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="0" sz="1400" i="0" strike="noStrike" u="none"/>
            </a:lvl1pPr>
          </a:lstStyle>
          <a:p>
            <a:pPr algn="l" indent="0">
              <a:lnSpc>
                <a:spcPct val="100000"/>
              </a:lnSpc>
            </a:pPr>
            <a:r>
              <a:rPr b="0" sz="1400" i="0" lang="en-US" strike="noStrike" u="none">
                <a:solidFill>
                  <a:srgbClr val="000000"/>
                </a:solidFill>
              </a:rPr>
              <a:t>系统的核心功能首先是数据采集与本地显示。我们通过多种传感器实时采集环境数据，并在OLED屏幕上进行本地显示。屏幕上不仅会显示实时的温湿度、土壤湿度和光照数据，还会展示当前的工作模式、设定的阈值以及设备的开关状态，方便现场调试和查看。</a:t>
            </a:r>
          </a:p>
        </p:txBody>
      </p:sp>
      <p:sp>
        <p:nvSpPr>
          <p:cNvPr id="104875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5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6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765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76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="0" sz="1400" i="0" strike="noStrike" u="none"/>
            </a:lvl1pPr>
          </a:lstStyle>
          <a:p>
            <a:pPr algn="l" indent="0">
              <a:lnSpc>
                <a:spcPct val="100000"/>
              </a:lnSpc>
            </a:pPr>
            <a:r>
              <a:rPr b="0" sz="1400" i="0" lang="en-US" strike="noStrike" u="none">
                <a:solidFill>
                  <a:srgbClr val="000000"/>
                </a:solidFill>
              </a:rPr>
              <a:t>在控制策略上，我们设计了自动和手动两种模式。自动模式下，系统能根据预设阈值自动完成灌溉、通风和补光等操作。而手动模式则允许用户通过APP远程控制每个设备，提供了极大的灵活性。两种模式可以随时切换，兼顾了效率与个性化需求。</a:t>
            </a:r>
          </a:p>
        </p:txBody>
      </p:sp>
      <p:sp>
        <p:nvSpPr>
          <p:cNvPr id="104876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6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7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779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78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="0" sz="1400" i="0" strike="noStrike" u="none"/>
            </a:lvl1pPr>
          </a:lstStyle>
          <a:p>
            <a:pPr algn="l" indent="0">
              <a:lnSpc>
                <a:spcPct val="100000"/>
              </a:lnSpc>
            </a:pPr>
            <a:r>
              <a:rPr b="0" sz="1400" i="0" lang="en-US" strike="noStrike" u="none">
                <a:solidFill>
                  <a:srgbClr val="000000"/>
                </a:solidFill>
              </a:rPr>
              <a:t>系统还实现了强大的远程监控与配置功能。用户可以通过手机APP实时查看所有环境数据，并远程调整各项控制阈值。特别值得一提的是，我们设计了断电数据保存功能，所有设置都会被永久保存，即使意外断电，系统重启后也无需重新配置，大大提升了系统的可靠性。</a:t>
            </a:r>
          </a:p>
        </p:txBody>
      </p:sp>
      <p:sp>
        <p:nvSpPr>
          <p:cNvPr id="104878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8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9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793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79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="0" sz="1400" i="0" strike="noStrike" u="none"/>
            </a:lvl1pPr>
          </a:lstStyle>
          <a:p>
            <a:pPr algn="l" indent="0">
              <a:lnSpc>
                <a:spcPct val="100000"/>
              </a:lnSpc>
            </a:pPr>
            <a:r>
              <a:rPr b="0" sz="1400" i="0" lang="en-US" strike="noStrike" u="none">
                <a:solidFill>
                  <a:srgbClr val="000000"/>
                </a:solidFill>
              </a:rPr>
              <a:t>接下来介绍系统的实现过程。首先是开发环境的搭建，我们使用Arduino IDE作为开发工具，并安装了ESP32的支持包和项目所需的各种库，以保证代码能顺利编译。</a:t>
            </a:r>
          </a:p>
          <a:p>
            <a:pPr algn="l" indent="0">
              <a:lnSpc>
                <a:spcPct val="100000"/>
              </a:lnSpc>
            </a:pPr>
            <a:r>
              <a:rPr b="0" sz="1400" i="0" lang="en-US" strike="noStrike" u="none">
                <a:solidFill>
                  <a:srgbClr val="000000"/>
                </a:solidFill>
              </a:rPr>
              <a:t>然后是硬件组装，这是系统运行的物理基础。我们严格按照文档中的“模块接线说明”将各个模块连接到ESP32开发板上，这一步至关重要。特别提醒大家，在接通电源之前，必须仔细检查接线，防止接反导致芯片烧毁。</a:t>
            </a:r>
          </a:p>
        </p:txBody>
      </p:sp>
      <p:sp>
        <p:nvSpPr>
          <p:cNvPr id="104879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9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81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814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81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="0" sz="1400" i="0" strike="noStrike" u="none"/>
            </a:lvl1pPr>
          </a:lstStyle>
          <a:p>
            <a:pPr algn="l" indent="0">
              <a:lnSpc>
                <a:spcPct val="100000"/>
              </a:lnSpc>
            </a:pPr>
            <a:r>
              <a:rPr b="0" sz="1400" i="0" lang="en-US" strike="noStrike" u="none">
                <a:solidFill>
                  <a:srgbClr val="000000"/>
                </a:solidFill>
              </a:rPr>
              <a:t>云端配置是关键环节。我们在阿里云生活物联网平台上创建项目和产品，并特别注意选择正确的品类和节点类型。创建成功后，我们会获得设备的三元组信息，并将其写入到Arduino程序中，从而实现设备与云端的连接。</a:t>
            </a:r>
          </a:p>
        </p:txBody>
      </p:sp>
      <p:sp>
        <p:nvSpPr>
          <p:cNvPr id="104881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81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82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829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83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="0" sz="1400" i="0" strike="noStrike" u="none"/>
            </a:lvl1pPr>
          </a:lstStyle>
          <a:p>
            <a:pPr algn="l" indent="0">
              <a:lnSpc>
                <a:spcPct val="100000"/>
              </a:lnSpc>
            </a:pPr>
            <a:r>
              <a:rPr b="0" sz="1400" i="0" lang="en-US" strike="noStrike" u="none">
                <a:solidFill>
                  <a:srgbClr val="000000"/>
                </a:solidFill>
              </a:rPr>
              <a:t>完成代码修改后，我们将程序上传到ESP32开发板。上传成功后，可以通过串口监视器查看设备的运行日志，确认WiFi是否成功连接，以及数据是否正常上报到云端，这是调试和验证系统功能的重要步骤。</a:t>
            </a:r>
          </a:p>
        </p:txBody>
      </p:sp>
      <p:sp>
        <p:nvSpPr>
          <p:cNvPr id="104883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83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84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845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84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="0" sz="1400" i="0" strike="noStrike" u="none"/>
            </a:lvl1pPr>
          </a:lstStyle>
          <a:p>
            <a:pPr algn="l" indent="0">
              <a:lnSpc>
                <a:spcPct val="100000"/>
              </a:lnSpc>
            </a:pPr>
            <a:r>
              <a:rPr b="0" sz="1400" i="0" lang="en-US" strike="noStrike" u="none">
                <a:solidFill>
                  <a:srgbClr val="000000"/>
                </a:solidFill>
              </a:rPr>
              <a:t>本项目的创新点主要体现在四个方面：首先是端云一体化的技术整合；其次是兼顾智能与灵活的控制模式设计；第三是本地与远程协同的数据交互方式；最后是通过断电数据保护设计，大大增强了系统的鲁棒性和用户体验。</a:t>
            </a:r>
          </a:p>
        </p:txBody>
      </p:sp>
      <p:sp>
        <p:nvSpPr>
          <p:cNvPr id="104884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84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86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863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86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="0" sz="1400" i="0" strike="noStrike" u="none"/>
            </a:lvl1pPr>
          </a:lstStyle>
          <a:p>
            <a:pPr algn="l" indent="0">
              <a:lnSpc>
                <a:spcPct val="100000"/>
              </a:lnSpc>
            </a:pPr>
            <a:r>
              <a:rPr b="0" sz="1400" i="0" lang="en-US" strike="noStrike" u="none">
                <a:solidFill>
                  <a:srgbClr val="000000"/>
                </a:solidFill>
              </a:rPr>
              <a:t>最后进行总结。本项目成功实现了一套完整的智能大棚监控与控制系统，达成了预期的所有目标。它不仅解决了传统农业的痛点，也为智慧农业的应用提供了一个切实可行的参考方案。</a:t>
            </a:r>
          </a:p>
        </p:txBody>
      </p:sp>
      <p:sp>
        <p:nvSpPr>
          <p:cNvPr id="104886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86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88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886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88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="0" sz="1400" i="0" strike="noStrike" u="none"/>
            </a:lvl1pPr>
          </a:lstStyle>
          <a:p>
            <a:pPr algn="l" indent="0">
              <a:lnSpc>
                <a:spcPct val="100000"/>
              </a:lnSpc>
            </a:pPr>
            <a:r>
              <a:rPr b="0" sz="1400" i="0" lang="en-US" strike="noStrike" u="none">
                <a:solidFill>
                  <a:srgbClr val="000000"/>
                </a:solidFill>
              </a:rPr>
              <a:t>当然，项目也存在一些不足，比如缺乏深度数据分析和主动报警机制。展望未来，我们计划引入更高级的数据分析与预测功能，丰富报警方式，并构建更开放的平台架构，同时探索太阳能供电等绿色能源方案，进一步优化系统。</a:t>
            </a:r>
          </a:p>
        </p:txBody>
      </p:sp>
      <p:sp>
        <p:nvSpPr>
          <p:cNvPr id="104888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88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89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895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89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="0" sz="1400" i="0" strike="noStrike" u="none"/>
            </a:lvl1pPr>
          </a:lstStyle>
          <a:p>
            <a:pPr algn="l" indent="0">
              <a:lnSpc>
                <a:spcPct val="100000"/>
              </a:lnSpc>
            </a:pPr>
            <a:r>
              <a:rPr b="0" sz="1400" i="0" lang="en-US" strike="noStrike" u="none">
                <a:solidFill>
                  <a:srgbClr val="000000"/>
                </a:solidFill>
              </a:rPr>
              <a:t>我的汇报到此结束。感谢各位评委老师的耐心聆听，恳请各位老师批评指正。谢谢大家！</a:t>
            </a:r>
          </a:p>
        </p:txBody>
      </p:sp>
      <p:sp>
        <p:nvSpPr>
          <p:cNvPr id="104889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89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90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4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/>
          <a:noFill/>
          <a:ln>
            <a:noFill/>
          </a:ln>
        </p:spPr>
        <p:txBody>
          <a:bodyPr anchor="b" anchorCtr="0" bIns="34275" lIns="68575" rIns="68575" spcFirstLastPara="1" tIns="34275" wrap="square">
            <a:normAutofit/>
          </a:bodyPr>
          <a:lstStyle>
            <a:lvl1pPr algn="ctr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05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/>
          <a:noFill/>
          <a:ln>
            <a:noFill/>
          </a:ln>
        </p:spPr>
        <p:txBody>
          <a:bodyPr anchor="t" anchorCtr="0" bIns="34275" lIns="68575" rIns="68575" spcFirstLastPara="1" tIns="34275" wrap="square">
            <a:normAutofit/>
          </a:bodyPr>
          <a:lstStyle>
            <a:lvl1pPr algn="ctr" lv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 lv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 lvl="2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 lvl="3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 lvl="4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 lvl="5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 lvl="6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 lvl="7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 lvl="8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48906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07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08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93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/>
          <a:noFill/>
          <a:ln>
            <a:noFill/>
          </a:ln>
        </p:spPr>
        <p:txBody>
          <a:bodyPr anchor="t" anchorCtr="0" bIns="34275" lIns="68575" rIns="68575" spcFirstLastPara="1" tIns="34275" wrap="square">
            <a:normAutofit/>
          </a:bodyPr>
          <a:lstStyle>
            <a:lvl1pPr algn="l" indent="-317500" lvl="0" marL="4572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1pPr>
            <a:lvl2pPr algn="l" indent="-317500" lvl="1" marL="914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2pPr>
            <a:lvl3pPr algn="l" indent="-3175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3pPr>
            <a:lvl4pPr algn="l" indent="-3175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4pPr>
            <a:lvl5pPr algn="l" indent="-3175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5pPr>
            <a:lvl6pPr algn="l" indent="-3175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algn="l" indent="-3175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algn="l" indent="-3175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algn="l" indent="-317500" lvl="8" marL="4114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/>
        </p:txBody>
      </p:sp>
      <p:sp>
        <p:nvSpPr>
          <p:cNvPr id="10489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96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/>
          <a:noFill/>
          <a:ln>
            <a:noFill/>
          </a:ln>
        </p:spPr>
        <p:txBody>
          <a:bodyPr anchor="b" anchorCtr="0" bIns="34275" lIns="68575" rIns="68575" spcFirstLastPara="1" tIns="34275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3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/>
          <a:noFill/>
          <a:ln>
            <a:noFill/>
          </a:ln>
        </p:spPr>
        <p:txBody>
          <a:bodyPr anchor="t" anchorCtr="0" bIns="34275" lIns="68575" rIns="68575" spcFirstLastPara="1" tIns="34275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algn="l" indent="-228600" lvl="1" marL="914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algn="l" indent="-2286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algn="l" indent="-2286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algn="l" indent="-2286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algn="l" indent="-2286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algn="l" indent="-2286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algn="l" indent="-2286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algn="l" indent="-228600" lvl="8" marL="4114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893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3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3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97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9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40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/>
          <a:noFill/>
          <a:ln>
            <a:noFill/>
          </a:ln>
        </p:spPr>
        <p:txBody>
          <a:bodyPr anchor="t" anchorCtr="0" bIns="34275" lIns="68575" rIns="68575" spcFirstLastPara="1" tIns="34275" wrap="square">
            <a:normAutofit/>
          </a:bodyPr>
          <a:lstStyle>
            <a:lvl1pPr algn="l" indent="-317500" lvl="0" marL="4572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1pPr>
            <a:lvl2pPr algn="l" indent="-317500" lvl="1" marL="914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2pPr>
            <a:lvl3pPr algn="l" indent="-3175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3pPr>
            <a:lvl4pPr algn="l" indent="-3175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4pPr>
            <a:lvl5pPr algn="l" indent="-3175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5pPr>
            <a:lvl6pPr algn="l" indent="-3175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algn="l" indent="-3175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algn="l" indent="-3175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algn="l" indent="-317500" lvl="8" marL="4114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/>
        </p:txBody>
      </p:sp>
      <p:sp>
        <p:nvSpPr>
          <p:cNvPr id="1048941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/>
          <a:noFill/>
          <a:ln>
            <a:noFill/>
          </a:ln>
        </p:spPr>
        <p:txBody>
          <a:bodyPr anchor="t" anchorCtr="0" bIns="34275" lIns="68575" rIns="68575" spcFirstLastPara="1" tIns="34275" wrap="square">
            <a:normAutofit/>
          </a:bodyPr>
          <a:lstStyle>
            <a:lvl1pPr algn="l" indent="-317500" lvl="0" marL="4572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1pPr>
            <a:lvl2pPr algn="l" indent="-317500" lvl="1" marL="914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2pPr>
            <a:lvl3pPr algn="l" indent="-3175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3pPr>
            <a:lvl4pPr algn="l" indent="-3175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4pPr>
            <a:lvl5pPr algn="l" indent="-3175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5pPr>
            <a:lvl6pPr algn="l" indent="-3175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algn="l" indent="-3175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algn="l" indent="-3175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algn="l" indent="-317500" lvl="8" marL="4114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/>
        </p:txBody>
      </p:sp>
      <p:sp>
        <p:nvSpPr>
          <p:cNvPr id="1048942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43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44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98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5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46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/>
          <a:noFill/>
          <a:ln>
            <a:noFill/>
          </a:ln>
        </p:spPr>
        <p:txBody>
          <a:bodyPr anchor="b" anchorCtr="0" bIns="34275" lIns="68575" rIns="68575" spcFirstLastPara="1" tIns="34275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algn="l" indent="-228600" lvl="1" marL="914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algn="l" indent="-2286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algn="l" indent="-2286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algn="l" indent="-2286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algn="l" indent="-2286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algn="l" indent="-2286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algn="l" indent="-2286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algn="l" indent="-228600" lvl="8" marL="4114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48947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/>
          <a:noFill/>
          <a:ln>
            <a:noFill/>
          </a:ln>
        </p:spPr>
        <p:txBody>
          <a:bodyPr anchor="t" anchorCtr="0" bIns="34275" lIns="68575" rIns="68575" spcFirstLastPara="1" tIns="34275" wrap="square">
            <a:normAutofit/>
          </a:bodyPr>
          <a:lstStyle>
            <a:lvl1pPr algn="l" indent="-317500" lvl="0" marL="4572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1pPr>
            <a:lvl2pPr algn="l" indent="-317500" lvl="1" marL="914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2pPr>
            <a:lvl3pPr algn="l" indent="-3175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3pPr>
            <a:lvl4pPr algn="l" indent="-3175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4pPr>
            <a:lvl5pPr algn="l" indent="-3175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5pPr>
            <a:lvl6pPr algn="l" indent="-3175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algn="l" indent="-3175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algn="l" indent="-3175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algn="l" indent="-317500" lvl="8" marL="4114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/>
        </p:txBody>
      </p:sp>
      <p:sp>
        <p:nvSpPr>
          <p:cNvPr id="1048948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/>
          <a:noFill/>
          <a:ln>
            <a:noFill/>
          </a:ln>
        </p:spPr>
        <p:txBody>
          <a:bodyPr anchor="b" anchorCtr="0" bIns="34275" lIns="68575" rIns="68575" spcFirstLastPara="1" tIns="34275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algn="l" indent="-228600" lvl="1" marL="914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algn="l" indent="-2286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algn="l" indent="-2286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algn="l" indent="-2286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algn="l" indent="-2286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algn="l" indent="-2286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algn="l" indent="-2286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algn="l" indent="-228600" lvl="8" marL="4114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48949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/>
          <a:noFill/>
          <a:ln>
            <a:noFill/>
          </a:ln>
        </p:spPr>
        <p:txBody>
          <a:bodyPr anchor="t" anchorCtr="0" bIns="34275" lIns="68575" rIns="68575" spcFirstLastPara="1" tIns="34275" wrap="square">
            <a:normAutofit/>
          </a:bodyPr>
          <a:lstStyle>
            <a:lvl1pPr algn="l" indent="-317500" lvl="0" marL="4572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1pPr>
            <a:lvl2pPr algn="l" indent="-317500" lvl="1" marL="914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2pPr>
            <a:lvl3pPr algn="l" indent="-3175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3pPr>
            <a:lvl4pPr algn="l" indent="-3175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4pPr>
            <a:lvl5pPr algn="l" indent="-3175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5pPr>
            <a:lvl6pPr algn="l" indent="-3175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algn="l" indent="-3175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algn="l" indent="-3175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algn="l" indent="-317500" lvl="8" marL="4114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/>
        </p:txBody>
      </p:sp>
      <p:sp>
        <p:nvSpPr>
          <p:cNvPr id="1048950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51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52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9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9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10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11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12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99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3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54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55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00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6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/>
          <a:noFill/>
          <a:ln>
            <a:noFill/>
          </a:ln>
        </p:spPr>
        <p:txBody>
          <a:bodyPr anchor="b" anchorCtr="0" bIns="34275" lIns="68575" rIns="68575" spcFirstLastPara="1" tIns="34275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57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/>
          <a:noFill/>
          <a:ln>
            <a:noFill/>
          </a:ln>
        </p:spPr>
        <p:txBody>
          <a:bodyPr anchor="t" anchorCtr="0" bIns="34275" lIns="68575" rIns="68575" spcFirstLastPara="1" tIns="34275" wrap="square">
            <a:normAutofit/>
          </a:bodyPr>
          <a:lstStyle>
            <a:lvl1pPr algn="l" indent="-381000" lvl="0" marL="4572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algn="l" indent="-361950" lvl="1" marL="914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algn="l" indent="-3429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algn="l" indent="-32385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algn="l" indent="-32385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algn="l" indent="-32385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algn="l" indent="-32385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algn="l" indent="-32385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algn="l" indent="-323850" lvl="8" marL="4114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48958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/>
          <a:noFill/>
          <a:ln>
            <a:noFill/>
          </a:ln>
        </p:spPr>
        <p:txBody>
          <a:bodyPr anchor="t" anchorCtr="0" bIns="34275" lIns="68575" rIns="68575" spcFirstLastPara="1" tIns="34275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algn="l" indent="-228600" lvl="1" marL="914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algn="l" indent="-2286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algn="l" indent="-2286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algn="l" indent="-2286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algn="l" indent="-2286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algn="l" indent="-2286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algn="l" indent="-2286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algn="l" indent="-228600" lvl="8" marL="4114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8959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60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61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94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3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/>
          <a:noFill/>
          <a:ln>
            <a:noFill/>
          </a:ln>
        </p:spPr>
        <p:txBody>
          <a:bodyPr anchor="b" anchorCtr="0" bIns="34275" lIns="68575" rIns="68575" spcFirstLastPara="1" tIns="34275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24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/>
          <a:noFill/>
          <a:ln>
            <a:noFill/>
          </a:ln>
        </p:spPr>
      </p:sp>
      <p:sp>
        <p:nvSpPr>
          <p:cNvPr id="1048925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/>
          <a:noFill/>
          <a:ln>
            <a:noFill/>
          </a:ln>
        </p:spPr>
        <p:txBody>
          <a:bodyPr anchor="t" anchorCtr="0" bIns="34275" lIns="68575" rIns="68575" spcFirstLastPara="1" tIns="34275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algn="l" indent="-228600" lvl="1" marL="914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algn="l" indent="-2286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algn="l" indent="-2286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algn="l" indent="-2286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algn="l" indent="-2286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algn="l" indent="-2286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algn="l" indent="-2286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algn="l" indent="-228600" lvl="8" marL="4114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8926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27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28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95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3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/>
          <a:noFill/>
          <a:ln>
            <a:noFill/>
          </a:ln>
        </p:spPr>
        <p:txBody>
          <a:bodyPr anchor="t" anchorCtr="0" bIns="34275" lIns="68575" rIns="68575" spcFirstLastPara="1" tIns="34275" wrap="square">
            <a:normAutofit/>
          </a:bodyPr>
          <a:lstStyle>
            <a:lvl1pPr algn="l" indent="-317500" lvl="0" marL="4572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1pPr>
            <a:lvl2pPr algn="l" indent="-317500" lvl="1" marL="914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2pPr>
            <a:lvl3pPr algn="l" indent="-3175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3pPr>
            <a:lvl4pPr algn="l" indent="-3175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4pPr>
            <a:lvl5pPr algn="l" indent="-3175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5pPr>
            <a:lvl6pPr algn="l" indent="-3175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algn="l" indent="-3175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algn="l" indent="-3175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algn="l" indent="-317500" lvl="8" marL="4114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/>
        </p:txBody>
      </p:sp>
      <p:sp>
        <p:nvSpPr>
          <p:cNvPr id="104893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3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3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92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3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14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/>
          <a:noFill/>
          <a:ln>
            <a:noFill/>
          </a:ln>
        </p:spPr>
        <p:txBody>
          <a:bodyPr anchor="t" anchorCtr="0" bIns="34275" lIns="68575" rIns="68575" spcFirstLastPara="1" tIns="34275" wrap="square">
            <a:normAutofit/>
          </a:bodyPr>
          <a:lstStyle>
            <a:lvl1pPr algn="l" indent="-317500" lvl="0" marL="4572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1pPr>
            <a:lvl2pPr algn="l" indent="-317500" lvl="1" marL="914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2pPr>
            <a:lvl3pPr algn="l" indent="-3175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3pPr>
            <a:lvl4pPr algn="l" indent="-3175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4pPr>
            <a:lvl5pPr algn="l" indent="-3175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5pPr>
            <a:lvl6pPr algn="l" indent="-3175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algn="l" indent="-3175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algn="l" indent="-3175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algn="l" indent="-317500" lvl="8" marL="4114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/>
        </p:txBody>
      </p:sp>
      <p:sp>
        <p:nvSpPr>
          <p:cNvPr id="1048915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16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917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"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78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9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rmAutofit/>
          </a:bodyPr>
          <a:lstStyle>
            <a:lvl1pPr algn="l"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cap="none" sz="33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48900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/>
          <a:noFill/>
          <a:ln>
            <a:noFill/>
          </a:ln>
        </p:spPr>
        <p:txBody>
          <a:bodyPr anchor="t" anchorCtr="0" bIns="34275" lIns="68575" rIns="68575" spcFirstLastPara="1" tIns="34275" wrap="square">
            <a:normAutofit/>
          </a:bodyPr>
          <a:lstStyle>
            <a:lvl1pPr algn="l" indent="-361950" lvl="0" marL="457200" marR="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cap="none" sz="21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indent="-342900" lvl="1" marL="914400" marR="0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indent="-323850" lvl="2" marL="1371600" marR="0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cap="none" sz="15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indent="-317500" lvl="3" marL="1828800" marR="0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indent="-317500" lvl="4" marL="2286000" marR="0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indent="-317500" lvl="5" marL="2743200" marR="0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indent="-317500" lvl="6" marL="3200400" marR="0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indent="-317500" lvl="7" marL="3657600" marR="0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indent="-317500" lvl="8" marL="4114800" marR="0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8901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100"/>
              <a:buNone/>
              <a:defRPr b="0" cap="none" sz="9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100"/>
              <a:buNone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100"/>
              <a:buNone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100"/>
              <a:buNone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100"/>
              <a:buNone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100"/>
              <a:buNone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100"/>
              <a:buNone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100"/>
              <a:buNone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100"/>
              <a:buNone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8902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SzPts val="1100"/>
              <a:buNone/>
              <a:defRPr b="0" cap="none" sz="9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100"/>
              <a:buNone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100"/>
              <a:buNone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100"/>
              <a:buNone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100"/>
              <a:buNone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100"/>
              <a:buNone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100"/>
              <a:buNone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100"/>
              <a:buNone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100"/>
              <a:buNone/>
              <a:defRPr b="0" cap="none" sz="14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8903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34275" lIns="68575" rIns="68575" spcFirstLastPara="1" tIns="34275" wrap="square">
            <a:noAutofit/>
          </a:bodyPr>
          <a:lstStyle>
            <a:lvl1pPr algn="r" indent="0" lvl="0" marL="0" marR="0" rtl="0">
              <a:spcBef>
                <a:spcPts val="0"/>
              </a:spcBef>
              <a:buNone/>
              <a:defRPr b="0" cap="none" sz="9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r" indent="0" lvl="1" marL="0" marR="0" rtl="0">
              <a:spcBef>
                <a:spcPts val="0"/>
              </a:spcBef>
              <a:buNone/>
              <a:defRPr b="0" cap="none" sz="9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r" indent="0" lvl="2" marL="0" marR="0" rtl="0">
              <a:spcBef>
                <a:spcPts val="0"/>
              </a:spcBef>
              <a:buNone/>
              <a:defRPr b="0" cap="none" sz="9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r" indent="0" lvl="3" marL="0" marR="0" rtl="0">
              <a:spcBef>
                <a:spcPts val="0"/>
              </a:spcBef>
              <a:buNone/>
              <a:defRPr b="0" cap="none" sz="9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r" indent="0" lvl="4" marL="0" marR="0" rtl="0">
              <a:spcBef>
                <a:spcPts val="0"/>
              </a:spcBef>
              <a:buNone/>
              <a:defRPr b="0" cap="none" sz="9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r" indent="0" lvl="5" marL="0" marR="0" rtl="0">
              <a:spcBef>
                <a:spcPts val="0"/>
              </a:spcBef>
              <a:buNone/>
              <a:defRPr b="0" cap="none" sz="9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r" indent="0" lvl="6" marL="0" marR="0" rtl="0">
              <a:spcBef>
                <a:spcPts val="0"/>
              </a:spcBef>
              <a:buNone/>
              <a:defRPr b="0" cap="none" sz="9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r" indent="0" lvl="7" marL="0" marR="0" rtl="0">
              <a:spcBef>
                <a:spcPts val="0"/>
              </a:spcBef>
              <a:buNone/>
              <a:defRPr b="0" cap="none" sz="9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r" indent="0" lvl="8" marL="0" marR="0" rtl="0">
              <a:spcBef>
                <a:spcPts val="0"/>
              </a:spcBef>
              <a:buNone/>
              <a:defRPr b="0" cap="none" sz="9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13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hlink="hlink" folHlink="folHlink"/>
  <p:sldLayoutIdLst>
    <p:sldLayoutId id="2147483678" r:id="rId1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image" Target="../media/image20.jpeg"/><Relationship Id="rId3" Type="http://schemas.openxmlformats.org/officeDocument/2006/relationships/image" Target="../media/image21.png"/><Relationship Id="rId4" Type="http://schemas.openxmlformats.org/officeDocument/2006/relationships/image" Target="../media/image22.jpeg"/><Relationship Id="rId5" Type="http://schemas.openxmlformats.org/officeDocument/2006/relationships/image" Target="../media/image23.png"/><Relationship Id="rId6" Type="http://schemas.openxmlformats.org/officeDocument/2006/relationships/image" Target="../media/image24.jpe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6.png"/><Relationship Id="rId3" Type="http://schemas.openxmlformats.org/officeDocument/2006/relationships/image" Target="../media/image29.png"/><Relationship Id="rId4" Type="http://schemas.openxmlformats.org/officeDocument/2006/relationships/image" Target="../media/image30.jpe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1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image" Target="../media/image32.png"/><Relationship Id="rId3" Type="http://schemas.openxmlformats.org/officeDocument/2006/relationships/image" Target="../media/image14.png"/><Relationship Id="rId4" Type="http://schemas.openxmlformats.org/officeDocument/2006/relationships/image" Target="../media/image33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42.pn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12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jpe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slideLayout" Target="../slideLayouts/slideLayout12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AutoShape 2"/>
          <p:cNvSpPr/>
          <p:nvPr/>
        </p:nvSpPr>
        <p:spPr>
          <a:xfrm rot="0" flipH="0" flipV="0">
            <a:off x="0" y="2032000"/>
            <a:ext cx="12192000" cy="1016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ctr" indent="0">
              <a:lnSpc>
                <a:spcPct val="125000"/>
              </a:lnSpc>
            </a:pPr>
            <a:r>
              <a:rPr b="1" sz="4800" i="0" lang="en-US" strike="noStrike" u="none">
                <a:solidFill>
                  <a:srgbClr val="008000"/>
                </a:solidFill>
                <a:latin typeface="Noto Sans SC"/>
                <a:ea typeface="Noto Sans SC"/>
                <a:cs typeface="Noto Sans SC"/>
                <a:sym typeface="Noto Sans SC"/>
              </a:rPr>
              <a:t>阿里云智能大棚系统设计与实现</a:t>
            </a:r>
            <a:endParaRPr b="1" sz="1100" lang="en-US">
              <a:solidFill>
                <a:srgbClr val="008000"/>
              </a:solidFill>
            </a:endParaRPr>
          </a:p>
        </p:txBody>
      </p:sp>
      <p:sp>
        <p:nvSpPr>
          <p:cNvPr id="1048577" name="AutoShape 3"/>
          <p:cNvSpPr/>
          <p:nvPr/>
        </p:nvSpPr>
        <p:spPr>
          <a:xfrm rot="0" flipH="0" flipV="0">
            <a:off x="0" y="3429000"/>
            <a:ext cx="12192000" cy="1143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ctr" indent="0">
              <a:lnSpc>
                <a:spcPct val="125000"/>
              </a:lnSpc>
            </a:pPr>
            <a:r>
              <a:rPr altLang="en-US" b="1" sz="6400" i="0" lang="zh-CN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融合</a:t>
            </a:r>
            <a:r>
              <a:rPr altLang="en-US" b="1" sz="6400" i="0" lang="zh-CN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通信</a:t>
            </a:r>
            <a:r>
              <a:rPr altLang="en-US" b="1" sz="6400" i="0" lang="zh-CN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技术</a:t>
            </a:r>
            <a:r>
              <a:rPr altLang="en-US" b="1" sz="6400" i="0" lang="zh-CN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设计</a:t>
            </a:r>
            <a:r>
              <a:rPr b="1" sz="6400" i="0" lang="en-US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答辩</a:t>
            </a:r>
            <a:endParaRPr sz="1100" lang="en-US"/>
          </a:p>
        </p:txBody>
      </p:sp>
      <p:sp>
        <p:nvSpPr>
          <p:cNvPr id="1048578" name="AutoShape 4"/>
          <p:cNvSpPr/>
          <p:nvPr/>
        </p:nvSpPr>
        <p:spPr>
          <a:xfrm rot="0" flipH="0" flipV="0">
            <a:off x="1651000" y="5207000"/>
            <a:ext cx="8890000" cy="1016000"/>
          </a:xfrm>
          <a:prstGeom prst="roundRect">
            <a:avLst>
              <a:gd name="adj" fmla="val 15000"/>
            </a:avLst>
          </a:prstGeom>
          <a:solidFill>
            <a:srgbClr val="000000">
              <a:alpha val="5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579" name="AutoShape 5"/>
          <p:cNvSpPr/>
          <p:nvPr/>
        </p:nvSpPr>
        <p:spPr>
          <a:xfrm rot="0" flipH="0" flipV="0">
            <a:off x="1651000" y="5397500"/>
            <a:ext cx="8890000" cy="635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ctr" indent="0">
              <a:lnSpc>
                <a:spcPct val="125000"/>
              </a:lnSpc>
            </a:pPr>
            <a:r>
              <a:rPr b="0" sz="1800" i="0" lang="en-US" strike="noStrike" u="non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</a:t>
            </a:r>
            <a:r>
              <a:rPr altLang="en-US" b="0" sz="1800" i="0" lang="zh-CN" strike="noStrike" u="non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陈艺苑</a:t>
            </a:r>
            <a:r>
              <a:rPr b="0" sz="1800" i="0" lang="en-US" strike="noStrike" u="non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|  指导老师：</a:t>
            </a:r>
            <a:r>
              <a:rPr altLang="en-US" b="0" sz="1800" i="0" lang="zh-CN" strike="noStrike" u="non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杨敏</a:t>
            </a:r>
            <a:r>
              <a:rPr b="0" sz="1800" i="0" lang="en-US" strike="noStrike" u="non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 |  日期：2026年5月</a:t>
            </a:r>
            <a:endParaRPr sz="11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AutoShape 2"/>
          <p:cNvSpPr/>
          <p:nvPr/>
        </p:nvSpPr>
        <p:spPr>
          <a:xfrm rot="0" flipH="0" flipV="0">
            <a:off x="762000" y="508000"/>
            <a:ext cx="10668000" cy="635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32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b="1" sz="2800" i="0" lang="en-US" strike="noStrike" u="non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sz="1100" lang="en-US"/>
          </a:p>
        </p:txBody>
      </p:sp>
      <p:sp>
        <p:nvSpPr>
          <p:cNvPr id="1048587" name="AutoShape 3"/>
          <p:cNvSpPr/>
          <p:nvPr/>
        </p:nvSpPr>
        <p:spPr>
          <a:xfrm rot="0" flipH="0" flipV="0">
            <a:off x="762000" y="1651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588" name="AutoShape 4"/>
          <p:cNvSpPr/>
          <p:nvPr/>
        </p:nvSpPr>
        <p:spPr>
          <a:xfrm rot="0" flipH="0" flipV="0">
            <a:off x="762000" y="1651000"/>
            <a:ext cx="10160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589" name="AutoShape 5"/>
          <p:cNvSpPr/>
          <p:nvPr/>
        </p:nvSpPr>
        <p:spPr>
          <a:xfrm rot="0" flipH="0" flipV="0">
            <a:off x="762000" y="1651000"/>
            <a:ext cx="1016000" cy="1397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ctr" indent="0">
              <a:lnSpc>
                <a:spcPct val="125000"/>
              </a:lnSpc>
            </a:pPr>
            <a:r>
              <a:rPr b="1" sz="3600" i="0" lang="en-US" strike="noStrike" u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sz="1100" lang="en-US"/>
          </a:p>
        </p:txBody>
      </p:sp>
      <p:sp>
        <p:nvSpPr>
          <p:cNvPr id="1048590" name="AutoShape 6"/>
          <p:cNvSpPr/>
          <p:nvPr/>
        </p:nvSpPr>
        <p:spPr>
          <a:xfrm rot="0" flipH="0" flipV="0">
            <a:off x="2032000" y="1841500"/>
            <a:ext cx="3683000" cy="1016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8333"/>
              </a:lnSpc>
            </a:pPr>
            <a:r>
              <a:rPr b="1" sz="19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项目概述与背景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16666"/>
              </a:lnSpc>
            </a:pP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传统农业的挑战与智慧农业的兴起</a:t>
            </a:r>
          </a:p>
        </p:txBody>
      </p:sp>
      <p:sp>
        <p:nvSpPr>
          <p:cNvPr id="1048591" name="AutoShape 7"/>
          <p:cNvSpPr/>
          <p:nvPr/>
        </p:nvSpPr>
        <p:spPr>
          <a:xfrm rot="0" flipH="0" flipV="0">
            <a:off x="762000" y="3302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592" name="AutoShape 8"/>
          <p:cNvSpPr/>
          <p:nvPr/>
        </p:nvSpPr>
        <p:spPr>
          <a:xfrm rot="0" flipH="0" flipV="0">
            <a:off x="762000" y="3302000"/>
            <a:ext cx="10160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593" name="AutoShape 9"/>
          <p:cNvSpPr/>
          <p:nvPr/>
        </p:nvSpPr>
        <p:spPr>
          <a:xfrm rot="0" flipH="0" flipV="0">
            <a:off x="762000" y="3302000"/>
            <a:ext cx="1016000" cy="1397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ctr" indent="0">
              <a:lnSpc>
                <a:spcPct val="125000"/>
              </a:lnSpc>
            </a:pPr>
            <a:r>
              <a:rPr b="1" sz="3600" i="0" lang="en-US" strike="noStrike" u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sz="1100" lang="en-US"/>
          </a:p>
        </p:txBody>
      </p:sp>
      <p:sp>
        <p:nvSpPr>
          <p:cNvPr id="1048594" name="AutoShape 10"/>
          <p:cNvSpPr/>
          <p:nvPr/>
        </p:nvSpPr>
        <p:spPr>
          <a:xfrm rot="0" flipH="0" flipV="0">
            <a:off x="2032000" y="3492500"/>
            <a:ext cx="3683000" cy="1016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8333"/>
              </a:lnSpc>
            </a:pPr>
            <a:r>
              <a:rPr b="1" sz="19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系统总体架构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16666"/>
              </a:lnSpc>
            </a:pP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硬件架构与软件架构详解</a:t>
            </a:r>
          </a:p>
        </p:txBody>
      </p:sp>
      <p:sp>
        <p:nvSpPr>
          <p:cNvPr id="1048595" name="AutoShape 11"/>
          <p:cNvSpPr/>
          <p:nvPr/>
        </p:nvSpPr>
        <p:spPr>
          <a:xfrm rot="0" flipH="0" flipV="0">
            <a:off x="762000" y="4953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596" name="AutoShape 12"/>
          <p:cNvSpPr/>
          <p:nvPr/>
        </p:nvSpPr>
        <p:spPr>
          <a:xfrm rot="0" flipH="0" flipV="0">
            <a:off x="762000" y="4953000"/>
            <a:ext cx="10160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597" name="AutoShape 13"/>
          <p:cNvSpPr/>
          <p:nvPr/>
        </p:nvSpPr>
        <p:spPr>
          <a:xfrm rot="0" flipH="0" flipV="0">
            <a:off x="762000" y="4953000"/>
            <a:ext cx="1016000" cy="1397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ctr" indent="0">
              <a:lnSpc>
                <a:spcPct val="125000"/>
              </a:lnSpc>
            </a:pPr>
            <a:r>
              <a:rPr b="1" sz="3600" i="0" lang="en-US" strike="noStrike" u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sz="1100" lang="en-US"/>
          </a:p>
        </p:txBody>
      </p:sp>
      <p:sp>
        <p:nvSpPr>
          <p:cNvPr id="1048598" name="AutoShape 14"/>
          <p:cNvSpPr/>
          <p:nvPr/>
        </p:nvSpPr>
        <p:spPr>
          <a:xfrm rot="0" flipH="0" flipV="0">
            <a:off x="2032000" y="5143500"/>
            <a:ext cx="3683000" cy="1016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8333"/>
              </a:lnSpc>
            </a:pPr>
            <a:r>
              <a:rPr b="1" sz="19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核心功能详解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16666"/>
              </a:lnSpc>
            </a:pP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数据采集、智能控制与远程监控</a:t>
            </a:r>
          </a:p>
        </p:txBody>
      </p:sp>
      <p:sp>
        <p:nvSpPr>
          <p:cNvPr id="1048599" name="AutoShape 15"/>
          <p:cNvSpPr/>
          <p:nvPr/>
        </p:nvSpPr>
        <p:spPr>
          <a:xfrm rot="0" flipH="0" flipV="0">
            <a:off x="6223000" y="1651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600" name="AutoShape 16"/>
          <p:cNvSpPr/>
          <p:nvPr/>
        </p:nvSpPr>
        <p:spPr>
          <a:xfrm rot="0" flipH="0" flipV="0">
            <a:off x="6223000" y="1651000"/>
            <a:ext cx="10160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601" name="AutoShape 17"/>
          <p:cNvSpPr/>
          <p:nvPr/>
        </p:nvSpPr>
        <p:spPr>
          <a:xfrm rot="0" flipH="0" flipV="0">
            <a:off x="6223000" y="1651000"/>
            <a:ext cx="1016000" cy="1397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ctr" indent="0">
              <a:lnSpc>
                <a:spcPct val="125000"/>
              </a:lnSpc>
            </a:pPr>
            <a:r>
              <a:rPr b="1" sz="3600" i="0" lang="en-US" strike="noStrike" u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sz="1100" lang="en-US"/>
          </a:p>
        </p:txBody>
      </p:sp>
      <p:sp>
        <p:nvSpPr>
          <p:cNvPr id="1048602" name="AutoShape 18"/>
          <p:cNvSpPr/>
          <p:nvPr/>
        </p:nvSpPr>
        <p:spPr>
          <a:xfrm rot="0" flipH="0" flipV="0">
            <a:off x="7493000" y="1841500"/>
            <a:ext cx="3683000" cy="1016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8333"/>
              </a:lnSpc>
            </a:pPr>
            <a:r>
              <a:rPr b="1" sz="19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系统实现与操作流程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16666"/>
              </a:lnSpc>
            </a:pP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开发环境、硬件组装与云端配置</a:t>
            </a:r>
          </a:p>
        </p:txBody>
      </p:sp>
      <p:sp>
        <p:nvSpPr>
          <p:cNvPr id="1048603" name="AutoShape 19"/>
          <p:cNvSpPr/>
          <p:nvPr/>
        </p:nvSpPr>
        <p:spPr>
          <a:xfrm rot="0" flipH="0" flipV="0">
            <a:off x="6223000" y="3302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604" name="AutoShape 20"/>
          <p:cNvSpPr/>
          <p:nvPr/>
        </p:nvSpPr>
        <p:spPr>
          <a:xfrm rot="0" flipH="0" flipV="0">
            <a:off x="6223000" y="3302000"/>
            <a:ext cx="10160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605" name="AutoShape 21"/>
          <p:cNvSpPr/>
          <p:nvPr/>
        </p:nvSpPr>
        <p:spPr>
          <a:xfrm rot="0" flipH="0" flipV="0">
            <a:off x="6223000" y="3302000"/>
            <a:ext cx="1016000" cy="1397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ctr" indent="0">
              <a:lnSpc>
                <a:spcPct val="125000"/>
              </a:lnSpc>
            </a:pPr>
            <a:r>
              <a:rPr b="1" sz="3600" i="0" lang="en-US" strike="noStrike" u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sz="1100" lang="en-US"/>
          </a:p>
        </p:txBody>
      </p:sp>
      <p:sp>
        <p:nvSpPr>
          <p:cNvPr id="1048606" name="AutoShape 22"/>
          <p:cNvSpPr/>
          <p:nvPr/>
        </p:nvSpPr>
        <p:spPr>
          <a:xfrm rot="0" flipH="0" flipV="0">
            <a:off x="7493000" y="3492500"/>
            <a:ext cx="3683000" cy="1016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8333"/>
              </a:lnSpc>
            </a:pPr>
            <a:r>
              <a:rPr b="1" sz="19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项目创新点与特色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16666"/>
              </a:lnSpc>
            </a:pP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技术整合、控制模式与数据交互创新</a:t>
            </a:r>
          </a:p>
        </p:txBody>
      </p:sp>
      <p:sp>
        <p:nvSpPr>
          <p:cNvPr id="1048607" name="AutoShape 23"/>
          <p:cNvSpPr/>
          <p:nvPr/>
        </p:nvSpPr>
        <p:spPr>
          <a:xfrm rot="0" flipH="0" flipV="0">
            <a:off x="6223000" y="4953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608" name="AutoShape 24"/>
          <p:cNvSpPr/>
          <p:nvPr/>
        </p:nvSpPr>
        <p:spPr>
          <a:xfrm rot="0" flipH="0" flipV="0">
            <a:off x="6223000" y="4953000"/>
            <a:ext cx="10160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609" name="AutoShape 25"/>
          <p:cNvSpPr/>
          <p:nvPr/>
        </p:nvSpPr>
        <p:spPr>
          <a:xfrm rot="0" flipH="0" flipV="0">
            <a:off x="6223000" y="4953000"/>
            <a:ext cx="1016000" cy="1397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ctr" indent="0">
              <a:lnSpc>
                <a:spcPct val="125000"/>
              </a:lnSpc>
            </a:pPr>
            <a:r>
              <a:rPr b="1" sz="3600" i="0" lang="en-US" strike="noStrike" u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sz="1100" lang="en-US"/>
          </a:p>
        </p:txBody>
      </p:sp>
      <p:sp>
        <p:nvSpPr>
          <p:cNvPr id="1048610" name="AutoShape 26"/>
          <p:cNvSpPr/>
          <p:nvPr/>
        </p:nvSpPr>
        <p:spPr>
          <a:xfrm rot="0" flipH="0" flipV="0">
            <a:off x="7493000" y="5143500"/>
            <a:ext cx="3683000" cy="1016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8333"/>
              </a:lnSpc>
            </a:pPr>
            <a:r>
              <a:rPr b="1" sz="19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16666"/>
              </a:lnSpc>
            </a:pP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项目总结、不足与未来展望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AutoShape 2"/>
          <p:cNvSpPr/>
          <p:nvPr/>
        </p:nvSpPr>
        <p:spPr>
          <a:xfrm rot="0" flipH="0" flipV="0">
            <a:off x="762000" y="508000"/>
            <a:ext cx="10668000" cy="571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32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项目概述与背景</a:t>
            </a:r>
            <a:endParaRPr sz="1100" lang="en-US"/>
          </a:p>
        </p:txBody>
      </p:sp>
      <p:sp>
        <p:nvSpPr>
          <p:cNvPr id="1048618" name="AutoShape 3"/>
          <p:cNvSpPr/>
          <p:nvPr/>
        </p:nvSpPr>
        <p:spPr>
          <a:xfrm rot="0" flipH="0" flipV="0">
            <a:off x="762000" y="1397000"/>
            <a:ext cx="10668000" cy="444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2400" i="0" lang="en-US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传统农业的挑战</a:t>
            </a:r>
            <a:endParaRPr sz="1100" lang="en-US"/>
          </a:p>
        </p:txBody>
      </p:sp>
      <p:pic>
        <p:nvPicPr>
          <p:cNvPr id="2097152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l="8924" t="0" r="8924" b="0"/>
          <a:stretch>
            <a:fillRect/>
          </a:stretch>
        </p:blipFill>
        <p:spPr>
          <a:xfrm rot="0" flipH="0" flipV="0">
            <a:off x="762000" y="2286000"/>
            <a:ext cx="4953000" cy="3937000"/>
          </a:xfrm>
          <a:prstGeom prst="roundRect">
            <a:avLst>
              <a:gd name="adj" fmla="val 3870"/>
            </a:avLst>
          </a:prstGeom>
          <a:noFill/>
          <a:ln w="25400" cap="flat" cmpd="sng">
            <a:noFill/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</p:pic>
      <p:sp>
        <p:nvSpPr>
          <p:cNvPr id="1048619" name="AutoShape 5"/>
          <p:cNvSpPr/>
          <p:nvPr/>
        </p:nvSpPr>
        <p:spPr>
          <a:xfrm rot="0" flipH="0" flipV="0">
            <a:off x="6096000" y="2286000"/>
            <a:ext cx="2667000" cy="1841500"/>
          </a:xfrm>
          <a:prstGeom prst="roundRect">
            <a:avLst>
              <a:gd name="adj" fmla="val 827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53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 flipH="0" flipV="0">
            <a:off x="6286500" y="2514600"/>
            <a:ext cx="355600" cy="355600"/>
          </a:xfrm>
          <a:prstGeom prst="rect"/>
        </p:spPr>
      </p:pic>
      <p:sp>
        <p:nvSpPr>
          <p:cNvPr id="1048620" name="AutoShape 7"/>
          <p:cNvSpPr/>
          <p:nvPr/>
        </p:nvSpPr>
        <p:spPr>
          <a:xfrm rot="0" flipH="0" flipV="0">
            <a:off x="6858000" y="2489200"/>
            <a:ext cx="1778000" cy="3556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600" i="0" lang="en-US" strike="noStrike" u="non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人力依赖</a:t>
            </a:r>
            <a:endParaRPr sz="1100" lang="en-US"/>
          </a:p>
        </p:txBody>
      </p:sp>
      <p:sp>
        <p:nvSpPr>
          <p:cNvPr id="1048621" name="AutoShape 8"/>
          <p:cNvSpPr/>
          <p:nvPr/>
        </p:nvSpPr>
        <p:spPr>
          <a:xfrm rot="0" flipH="0" flipV="0">
            <a:off x="6286500" y="3048000"/>
            <a:ext cx="2286000" cy="952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8333"/>
              </a:lnSpc>
            </a:pPr>
            <a:r>
              <a:rPr b="0" sz="12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传统农业生产高度依赖人工经验，需要实时监控环境并进行人工干预，耗费大量人力物力。</a:t>
            </a:r>
            <a:endParaRPr sz="1100" lang="en-US"/>
          </a:p>
        </p:txBody>
      </p:sp>
      <p:sp>
        <p:nvSpPr>
          <p:cNvPr id="1048622" name="AutoShape 9"/>
          <p:cNvSpPr/>
          <p:nvPr/>
        </p:nvSpPr>
        <p:spPr>
          <a:xfrm rot="0" flipH="0" flipV="0">
            <a:off x="9017000" y="2286000"/>
            <a:ext cx="2667000" cy="1841500"/>
          </a:xfrm>
          <a:prstGeom prst="roundRect">
            <a:avLst>
              <a:gd name="adj" fmla="val 827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54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 flipH="0" flipV="0">
            <a:off x="9207500" y="2514600"/>
            <a:ext cx="355600" cy="355600"/>
          </a:xfrm>
          <a:prstGeom prst="rect"/>
        </p:spPr>
      </p:pic>
      <p:sp>
        <p:nvSpPr>
          <p:cNvPr id="1048623" name="AutoShape 11"/>
          <p:cNvSpPr/>
          <p:nvPr/>
        </p:nvSpPr>
        <p:spPr>
          <a:xfrm rot="0" flipH="0" flipV="0">
            <a:off x="9779000" y="2489200"/>
            <a:ext cx="1778000" cy="3556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600" i="0" lang="en-US" strike="noStrike" u="non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效率低下</a:t>
            </a:r>
            <a:endParaRPr sz="1100" lang="en-US"/>
          </a:p>
        </p:txBody>
      </p:sp>
      <p:sp>
        <p:nvSpPr>
          <p:cNvPr id="1048624" name="AutoShape 12"/>
          <p:cNvSpPr/>
          <p:nvPr/>
        </p:nvSpPr>
        <p:spPr>
          <a:xfrm rot="0" flipH="0" flipV="0">
            <a:off x="9207500" y="3048000"/>
            <a:ext cx="2286000" cy="952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8333"/>
              </a:lnSpc>
            </a:pPr>
            <a:r>
              <a:rPr b="0" sz="12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人工管理难以实现精准、实时的环境调控，导致水资源浪费、能源消耗大，作物产量和品质不稳定。</a:t>
            </a:r>
            <a:endParaRPr sz="1100" lang="en-US"/>
          </a:p>
        </p:txBody>
      </p:sp>
      <p:sp>
        <p:nvSpPr>
          <p:cNvPr id="1048625" name="AutoShape 13"/>
          <p:cNvSpPr/>
          <p:nvPr/>
        </p:nvSpPr>
        <p:spPr>
          <a:xfrm rot="0" flipH="0" flipV="0">
            <a:off x="6096000" y="4381500"/>
            <a:ext cx="2667000" cy="1841500"/>
          </a:xfrm>
          <a:prstGeom prst="roundRect">
            <a:avLst>
              <a:gd name="adj" fmla="val 827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55" name="Picture 14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 rot="0" flipH="0" flipV="0">
            <a:off x="6286500" y="4610100"/>
            <a:ext cx="355600" cy="355600"/>
          </a:xfrm>
          <a:prstGeom prst="rect"/>
        </p:spPr>
      </p:pic>
      <p:sp>
        <p:nvSpPr>
          <p:cNvPr id="1048626" name="AutoShape 15"/>
          <p:cNvSpPr/>
          <p:nvPr/>
        </p:nvSpPr>
        <p:spPr>
          <a:xfrm rot="0" flipH="0" flipV="0">
            <a:off x="6858000" y="4584700"/>
            <a:ext cx="1778000" cy="3556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600" i="0" lang="en-US" strike="noStrike" u="non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数据缺失</a:t>
            </a:r>
            <a:endParaRPr sz="1100" lang="en-US"/>
          </a:p>
        </p:txBody>
      </p:sp>
      <p:sp>
        <p:nvSpPr>
          <p:cNvPr id="1048627" name="AutoShape 16"/>
          <p:cNvSpPr/>
          <p:nvPr/>
        </p:nvSpPr>
        <p:spPr>
          <a:xfrm rot="0" flipH="0" flipV="0">
            <a:off x="6286500" y="5143500"/>
            <a:ext cx="2286000" cy="952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8333"/>
              </a:lnSpc>
            </a:pPr>
            <a:r>
              <a:rPr b="0" sz="12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缺乏系统性的数据记录与分析，无法为种植策略的优化提供科学依据，生产决策更多依赖经验。</a:t>
            </a:r>
            <a:endParaRPr sz="1100" lang="en-US"/>
          </a:p>
        </p:txBody>
      </p:sp>
      <p:sp>
        <p:nvSpPr>
          <p:cNvPr id="1048628" name="AutoShape 17"/>
          <p:cNvSpPr/>
          <p:nvPr/>
        </p:nvSpPr>
        <p:spPr>
          <a:xfrm rot="0" flipH="0" flipV="0">
            <a:off x="9017000" y="4381500"/>
            <a:ext cx="2667000" cy="1841500"/>
          </a:xfrm>
          <a:prstGeom prst="roundRect">
            <a:avLst>
              <a:gd name="adj" fmla="val 827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56" name="Picture 18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 rot="0" flipH="0" flipV="0">
            <a:off x="9207500" y="4610100"/>
            <a:ext cx="355600" cy="355600"/>
          </a:xfrm>
          <a:prstGeom prst="rect"/>
        </p:spPr>
      </p:pic>
      <p:sp>
        <p:nvSpPr>
          <p:cNvPr id="1048629" name="AutoShape 19"/>
          <p:cNvSpPr/>
          <p:nvPr/>
        </p:nvSpPr>
        <p:spPr>
          <a:xfrm rot="0" flipH="0" flipV="0">
            <a:off x="9779000" y="4584700"/>
            <a:ext cx="1778000" cy="3556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600" i="0" lang="en-US" strike="noStrike" u="non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管理局限</a:t>
            </a:r>
            <a:endParaRPr sz="1100" lang="en-US"/>
          </a:p>
        </p:txBody>
      </p:sp>
      <p:sp>
        <p:nvSpPr>
          <p:cNvPr id="1048630" name="AutoShape 20"/>
          <p:cNvSpPr/>
          <p:nvPr/>
        </p:nvSpPr>
        <p:spPr>
          <a:xfrm rot="0" flipH="0" flipV="0">
            <a:off x="9207500" y="5143500"/>
            <a:ext cx="2286000" cy="952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8333"/>
              </a:lnSpc>
            </a:pPr>
            <a:r>
              <a:rPr b="0" sz="12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管理者无法随时随地掌握大棚内部情况，应对突发状况的能力受限，难以实现集约化、规模化管理。</a:t>
            </a:r>
            <a:endParaRPr sz="11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AutoShape 2"/>
          <p:cNvSpPr/>
          <p:nvPr/>
        </p:nvSpPr>
        <p:spPr>
          <a:xfrm rot="0" flipH="0" flipV="0">
            <a:off x="762000" y="508000"/>
            <a:ext cx="10668000" cy="635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32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项目概述与背景</a:t>
            </a:r>
            <a:endParaRPr sz="1100" lang="en-US"/>
          </a:p>
        </p:txBody>
      </p:sp>
      <p:sp>
        <p:nvSpPr>
          <p:cNvPr id="1048638" name="AutoShape 3"/>
          <p:cNvSpPr/>
          <p:nvPr/>
        </p:nvSpPr>
        <p:spPr>
          <a:xfrm rot="0" flipH="0" flipV="0">
            <a:off x="762000" y="1397000"/>
            <a:ext cx="10668000" cy="508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2400" i="0" lang="en-US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智慧农业的机遇</a:t>
            </a:r>
            <a:endParaRPr sz="1100" lang="en-US"/>
          </a:p>
        </p:txBody>
      </p:sp>
      <p:pic>
        <p:nvPicPr>
          <p:cNvPr id="2097157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l="9051" t="0" r="9051" b="0"/>
          <a:stretch>
            <a:fillRect/>
          </a:stretch>
        </p:blipFill>
        <p:spPr>
          <a:xfrm rot="0" flipH="0" flipV="0">
            <a:off x="762000" y="2286000"/>
            <a:ext cx="4826000" cy="3683000"/>
          </a:xfrm>
          <a:prstGeom prst="roundRect">
            <a:avLst>
              <a:gd name="adj" fmla="val 5517"/>
            </a:avLst>
          </a:prstGeom>
          <a:noFill/>
          <a:ln w="25400" cap="flat" cmpd="sng">
            <a:noFill/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</p:pic>
      <p:sp>
        <p:nvSpPr>
          <p:cNvPr id="1048639" name="AutoShape 5"/>
          <p:cNvSpPr/>
          <p:nvPr/>
        </p:nvSpPr>
        <p:spPr>
          <a:xfrm rot="0" flipH="0" flipV="0">
            <a:off x="5969000" y="2286000"/>
            <a:ext cx="2667000" cy="17145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58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 flipH="0" flipV="0">
            <a:off x="6159500" y="2603500"/>
            <a:ext cx="406400" cy="406400"/>
          </a:xfrm>
          <a:prstGeom prst="rect"/>
        </p:spPr>
      </p:pic>
      <p:sp>
        <p:nvSpPr>
          <p:cNvPr id="1048640" name="AutoShape 7"/>
          <p:cNvSpPr/>
          <p:nvPr/>
        </p:nvSpPr>
        <p:spPr>
          <a:xfrm rot="0" flipH="0" flipV="0">
            <a:off x="6731000" y="2476500"/>
            <a:ext cx="1778000" cy="1333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0000"/>
              </a:lnSpc>
            </a:pPr>
            <a:r>
              <a:rPr b="1" sz="16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技术驱动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b="0" sz="12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物联网、云计算、传感器和移动互联网的发展，为农业生产的智能化转型提供了坚实的技术基础。</a:t>
            </a:r>
          </a:p>
        </p:txBody>
      </p:sp>
      <p:sp>
        <p:nvSpPr>
          <p:cNvPr id="1048641" name="AutoShape 8"/>
          <p:cNvSpPr/>
          <p:nvPr/>
        </p:nvSpPr>
        <p:spPr>
          <a:xfrm rot="0" flipH="0" flipV="0">
            <a:off x="8890000" y="2286000"/>
            <a:ext cx="2667000" cy="17145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59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 flipH="0" flipV="0">
            <a:off x="9080500" y="2603500"/>
            <a:ext cx="406400" cy="406400"/>
          </a:xfrm>
          <a:prstGeom prst="rect"/>
        </p:spPr>
      </p:pic>
      <p:sp>
        <p:nvSpPr>
          <p:cNvPr id="1048642" name="AutoShape 10"/>
          <p:cNvSpPr/>
          <p:nvPr/>
        </p:nvSpPr>
        <p:spPr>
          <a:xfrm rot="0" flipH="0" flipV="0">
            <a:off x="9652000" y="2476500"/>
            <a:ext cx="1778000" cy="1333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0000"/>
              </a:lnSpc>
            </a:pPr>
            <a:r>
              <a:rPr b="1" sz="16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精准可控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b="0" sz="12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通过传感器实时采集环境数据，利用智能算法实现自动化控制，达成精准灌溉、智能通风与科学补光。</a:t>
            </a:r>
          </a:p>
        </p:txBody>
      </p:sp>
      <p:sp>
        <p:nvSpPr>
          <p:cNvPr id="1048643" name="AutoShape 11"/>
          <p:cNvSpPr/>
          <p:nvPr/>
        </p:nvSpPr>
        <p:spPr>
          <a:xfrm rot="0" flipH="0" flipV="0">
            <a:off x="5969000" y="4254500"/>
            <a:ext cx="2667000" cy="17145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60" name="Picture 12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 rot="0" flipH="0" flipV="0">
            <a:off x="6159500" y="4572000"/>
            <a:ext cx="406400" cy="406400"/>
          </a:xfrm>
          <a:prstGeom prst="rect"/>
        </p:spPr>
      </p:pic>
      <p:sp>
        <p:nvSpPr>
          <p:cNvPr id="1048644" name="AutoShape 13"/>
          <p:cNvSpPr/>
          <p:nvPr/>
        </p:nvSpPr>
        <p:spPr>
          <a:xfrm rot="0" flipH="0" flipV="0">
            <a:off x="6731000" y="4445000"/>
            <a:ext cx="1778000" cy="1333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0000"/>
              </a:lnSpc>
            </a:pPr>
            <a:r>
              <a:rPr b="1" sz="16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降本增效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b="0" sz="12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大幅减少人工投入，优化水、电等资源利用，显著提升作物产量和质量，实现农业生产可持续发展。</a:t>
            </a:r>
          </a:p>
        </p:txBody>
      </p:sp>
      <p:sp>
        <p:nvSpPr>
          <p:cNvPr id="1048645" name="AutoShape 14"/>
          <p:cNvSpPr/>
          <p:nvPr/>
        </p:nvSpPr>
        <p:spPr>
          <a:xfrm rot="0" flipH="0" flipV="0">
            <a:off x="8890000" y="4254500"/>
            <a:ext cx="2667000" cy="17145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61" name="Picture 15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 rot="0" flipH="0" flipV="0">
            <a:off x="9080500" y="4572000"/>
            <a:ext cx="406400" cy="406400"/>
          </a:xfrm>
          <a:prstGeom prst="rect"/>
        </p:spPr>
      </p:pic>
      <p:sp>
        <p:nvSpPr>
          <p:cNvPr id="1048646" name="AutoShape 16"/>
          <p:cNvSpPr/>
          <p:nvPr/>
        </p:nvSpPr>
        <p:spPr>
          <a:xfrm rot="0" flipH="0" flipV="0">
            <a:off x="9652000" y="4445000"/>
            <a:ext cx="1778000" cy="1333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0000"/>
              </a:lnSpc>
            </a:pPr>
            <a:r>
              <a:rPr b="1" sz="16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远程管理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b="0" sz="12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借助云平台和移动APP，打破时空限制，随时随地实现对农业生产环境的全面监控与高效管理。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AutoShape 2"/>
          <p:cNvSpPr/>
          <p:nvPr/>
        </p:nvSpPr>
        <p:spPr>
          <a:xfrm rot="0" flipH="0" flipV="0">
            <a:off x="762000" y="508000"/>
            <a:ext cx="10668000" cy="508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32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项目概述与背景</a:t>
            </a:r>
            <a:endParaRPr sz="1100" lang="en-US"/>
          </a:p>
        </p:txBody>
      </p:sp>
      <p:sp>
        <p:nvSpPr>
          <p:cNvPr id="1048654" name="AutoShape 3"/>
          <p:cNvSpPr/>
          <p:nvPr/>
        </p:nvSpPr>
        <p:spPr>
          <a:xfrm rot="0" flipH="0" flipV="0">
            <a:off x="762000" y="1397000"/>
            <a:ext cx="10668000" cy="444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2200" i="0" lang="en-US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项目目标：打造低成本、高集成的智能大棚解决方案</a:t>
            </a:r>
            <a:endParaRPr sz="1100" lang="en-US"/>
          </a:p>
        </p:txBody>
      </p:sp>
      <p:sp>
        <p:nvSpPr>
          <p:cNvPr id="1048655" name="AutoShape 4"/>
          <p:cNvSpPr/>
          <p:nvPr/>
        </p:nvSpPr>
        <p:spPr>
          <a:xfrm rot="0" flipH="0" flipV="0">
            <a:off x="762000" y="2286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62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 flipH="0" flipV="0">
            <a:off x="1016000" y="2603500"/>
            <a:ext cx="457200" cy="457200"/>
          </a:xfrm>
          <a:prstGeom prst="rect"/>
        </p:spPr>
      </p:pic>
      <p:sp>
        <p:nvSpPr>
          <p:cNvPr id="1048656" name="AutoShape 6"/>
          <p:cNvSpPr/>
          <p:nvPr/>
        </p:nvSpPr>
        <p:spPr>
          <a:xfrm rot="0" flipH="0" flipV="0">
            <a:off x="1651000" y="2540000"/>
            <a:ext cx="2159000" cy="1397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6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数据采集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b="0" sz="12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实时、精准地采集大棚内的环境温度、环境湿度、土壤湿度和光照强度，为决策提供数据支撑。</a:t>
            </a:r>
          </a:p>
        </p:txBody>
      </p:sp>
      <p:sp>
        <p:nvSpPr>
          <p:cNvPr id="1048657" name="AutoShape 7"/>
          <p:cNvSpPr/>
          <p:nvPr/>
        </p:nvSpPr>
        <p:spPr>
          <a:xfrm rot="0" flipH="0" flipV="0">
            <a:off x="4445000" y="2286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63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 flipH="0" flipV="0">
            <a:off x="4699000" y="2603500"/>
            <a:ext cx="457200" cy="457200"/>
          </a:xfrm>
          <a:prstGeom prst="rect"/>
        </p:spPr>
      </p:pic>
      <p:sp>
        <p:nvSpPr>
          <p:cNvPr id="1048658" name="AutoShape 9"/>
          <p:cNvSpPr/>
          <p:nvPr/>
        </p:nvSpPr>
        <p:spPr>
          <a:xfrm rot="0" flipH="0" flipV="0">
            <a:off x="5334000" y="2540000"/>
            <a:ext cx="2159000" cy="1397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6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智能控制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b="0" sz="12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基于预设阈值，自动控制灌溉、通风、补光等设备；同时支持用户灵活切换至手动控制模式。</a:t>
            </a:r>
          </a:p>
        </p:txBody>
      </p:sp>
      <p:sp>
        <p:nvSpPr>
          <p:cNvPr id="1048659" name="AutoShape 10"/>
          <p:cNvSpPr/>
          <p:nvPr/>
        </p:nvSpPr>
        <p:spPr>
          <a:xfrm rot="0" flipH="0" flipV="0">
            <a:off x="8128000" y="2286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64" name="Picture 11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 flipH="0" flipV="0">
            <a:off x="8382000" y="2603500"/>
            <a:ext cx="457200" cy="457200"/>
          </a:xfrm>
          <a:prstGeom prst="rect"/>
        </p:spPr>
      </p:pic>
      <p:sp>
        <p:nvSpPr>
          <p:cNvPr id="1048660" name="AutoShape 12"/>
          <p:cNvSpPr/>
          <p:nvPr/>
        </p:nvSpPr>
        <p:spPr>
          <a:xfrm rot="0" flipH="0" flipV="0">
            <a:off x="9017000" y="2540000"/>
            <a:ext cx="2159000" cy="1397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6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远程监控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b="0" sz="12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用户通过手机APP，可随时随地查看大棚内的实时环境数据、设备运行状态及历史记录。</a:t>
            </a:r>
          </a:p>
        </p:txBody>
      </p:sp>
      <p:sp>
        <p:nvSpPr>
          <p:cNvPr id="1048661" name="AutoShape 13"/>
          <p:cNvSpPr/>
          <p:nvPr/>
        </p:nvSpPr>
        <p:spPr>
          <a:xfrm rot="0" flipH="0" flipV="0">
            <a:off x="762000" y="4572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65" name="Picture 14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 rot="0" flipH="0" flipV="0">
            <a:off x="1016000" y="5016500"/>
            <a:ext cx="457200" cy="457200"/>
          </a:xfrm>
          <a:prstGeom prst="rect"/>
        </p:spPr>
      </p:pic>
      <p:sp>
        <p:nvSpPr>
          <p:cNvPr id="1048662" name="AutoShape 15"/>
          <p:cNvSpPr/>
          <p:nvPr/>
        </p:nvSpPr>
        <p:spPr>
          <a:xfrm rot="0" flipH="0" flipV="0">
            <a:off x="1778000" y="4826000"/>
            <a:ext cx="3937000" cy="1270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6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远程配置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b="0" sz="12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支持通过APP灵活设置温度、湿度等关键环境参数的控制阈值，并具备断电记忆功能，确保配置信息不丢失。</a:t>
            </a:r>
          </a:p>
        </p:txBody>
      </p:sp>
      <p:sp>
        <p:nvSpPr>
          <p:cNvPr id="1048663" name="AutoShape 16"/>
          <p:cNvSpPr/>
          <p:nvPr/>
        </p:nvSpPr>
        <p:spPr>
          <a:xfrm rot="0" flipH="0" flipV="0">
            <a:off x="6223000" y="4572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66" name="Picture 17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 rot="0" flipH="0" flipV="0">
            <a:off x="6477000" y="5016500"/>
            <a:ext cx="457200" cy="457200"/>
          </a:xfrm>
          <a:prstGeom prst="rect"/>
        </p:spPr>
      </p:pic>
      <p:sp>
        <p:nvSpPr>
          <p:cNvPr id="1048664" name="AutoShape 18"/>
          <p:cNvSpPr/>
          <p:nvPr/>
        </p:nvSpPr>
        <p:spPr>
          <a:xfrm rot="0" flipH="0" flipV="0">
            <a:off x="7239000" y="4826000"/>
            <a:ext cx="3937000" cy="1270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6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本地显示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b="0" sz="12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在主控设备端集成OLED显示屏，实时、直观地展示当前关键环境数据与系统的运行状态，方便现场查看。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AutoShape 2"/>
          <p:cNvSpPr/>
          <p:nvPr/>
        </p:nvSpPr>
        <p:spPr>
          <a:xfrm rot="0" flipH="0" flipV="0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672" name="AutoShape 3"/>
          <p:cNvSpPr/>
          <p:nvPr/>
        </p:nvSpPr>
        <p:spPr>
          <a:xfrm rot="0" flipH="0" flipV="0">
            <a:off x="762000" y="508000"/>
            <a:ext cx="10668000" cy="635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32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系统总体架构</a:t>
            </a:r>
            <a:endParaRPr sz="1100" lang="en-US"/>
          </a:p>
        </p:txBody>
      </p:sp>
      <p:sp>
        <p:nvSpPr>
          <p:cNvPr id="1048673" name="AutoShape 4"/>
          <p:cNvSpPr/>
          <p:nvPr/>
        </p:nvSpPr>
        <p:spPr>
          <a:xfrm rot="0" flipH="0" flipV="0">
            <a:off x="762000" y="1397000"/>
            <a:ext cx="10668000" cy="508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2400" i="0" lang="en-US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硬件架构：感知与执行的基石</a:t>
            </a:r>
            <a:endParaRPr sz="1100" lang="en-US"/>
          </a:p>
        </p:txBody>
      </p:sp>
      <p:sp>
        <p:nvSpPr>
          <p:cNvPr id="1048674" name="AutoShape 5"/>
          <p:cNvSpPr/>
          <p:nvPr/>
        </p:nvSpPr>
        <p:spPr>
          <a:xfrm rot="0" flipH="0" flipV="0">
            <a:off x="762000" y="2159000"/>
            <a:ext cx="10668000" cy="889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16666"/>
              </a:lnSpc>
            </a:pPr>
            <a:r>
              <a:rPr b="0" sz="14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系统的硬件架构以高性能、低功耗的ESP32开发板为核心中枢，通过I/O接口与各类传感器和执行器紧密连接，构成一个集环境感知、逻辑运算、控制执行与状态反馈于一体的完整嵌入式硬件系统，为上层应用提供稳定可靠的物理支撑。</a:t>
            </a:r>
            <a:endParaRPr sz="1100" lang="en-US"/>
          </a:p>
        </p:txBody>
      </p:sp>
      <p:sp>
        <p:nvSpPr>
          <p:cNvPr id="1048675" name="AutoShape 6"/>
          <p:cNvSpPr/>
          <p:nvPr/>
        </p:nvSpPr>
        <p:spPr>
          <a:xfrm rot="0" flipH="0" flipV="0">
            <a:off x="762000" y="3429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67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 flipH="0" flipV="0">
            <a:off x="1016000" y="3746500"/>
            <a:ext cx="762000" cy="762000"/>
          </a:xfrm>
          <a:prstGeom prst="rect"/>
        </p:spPr>
      </p:pic>
      <p:sp>
        <p:nvSpPr>
          <p:cNvPr id="1048676" name="AutoShape 8"/>
          <p:cNvSpPr/>
          <p:nvPr/>
        </p:nvSpPr>
        <p:spPr>
          <a:xfrm rot="0" flipH="0" flipV="0">
            <a:off x="2032000" y="3683000"/>
            <a:ext cx="3683000" cy="889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8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核心控制器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25000"/>
              </a:lnSpc>
              <a:spcBef>
                <a:spcPts val="600"/>
              </a:spcBef>
            </a:pP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ESP32 开发板：兼具 Wi-Fi 与蓝牙功能，提供强大的计算能力与丰富的外设接口，是整个系统的“大脑”。</a:t>
            </a:r>
          </a:p>
        </p:txBody>
      </p:sp>
      <p:sp>
        <p:nvSpPr>
          <p:cNvPr id="1048677" name="AutoShape 9"/>
          <p:cNvSpPr/>
          <p:nvPr/>
        </p:nvSpPr>
        <p:spPr>
          <a:xfrm rot="0" flipH="0" flipV="0">
            <a:off x="6223000" y="3429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68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 flipH="0" flipV="0">
            <a:off x="6477000" y="3746500"/>
            <a:ext cx="762000" cy="762000"/>
          </a:xfrm>
          <a:prstGeom prst="rect"/>
        </p:spPr>
      </p:pic>
      <p:sp>
        <p:nvSpPr>
          <p:cNvPr id="1048678" name="AutoShape 11"/>
          <p:cNvSpPr/>
          <p:nvPr/>
        </p:nvSpPr>
        <p:spPr>
          <a:xfrm rot="0" flipH="0" flipV="0">
            <a:off x="7493000" y="3683000"/>
            <a:ext cx="3683000" cy="889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8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感知层 · 环境监测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25000"/>
              </a:lnSpc>
              <a:spcBef>
                <a:spcPts val="600"/>
              </a:spcBef>
            </a:pP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DHT11 温湿度传感器 | BH1750 光照传感器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土壤湿度传感器：实时采集植物生长的关键环境指标。</a:t>
            </a:r>
          </a:p>
        </p:txBody>
      </p:sp>
      <p:sp>
        <p:nvSpPr>
          <p:cNvPr id="1048679" name="AutoShape 12"/>
          <p:cNvSpPr/>
          <p:nvPr/>
        </p:nvSpPr>
        <p:spPr>
          <a:xfrm rot="0" flipH="0" flipV="0">
            <a:off x="762000" y="5080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69" name="Picture 13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 rot="0" flipH="0" flipV="0">
            <a:off x="1016000" y="5397500"/>
            <a:ext cx="762000" cy="762000"/>
          </a:xfrm>
          <a:prstGeom prst="rect"/>
        </p:spPr>
      </p:pic>
      <p:sp>
        <p:nvSpPr>
          <p:cNvPr id="1048680" name="AutoShape 14"/>
          <p:cNvSpPr/>
          <p:nvPr/>
        </p:nvSpPr>
        <p:spPr>
          <a:xfrm rot="0" flipH="0" flipV="0">
            <a:off x="2032000" y="5334000"/>
            <a:ext cx="3683000" cy="889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8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执行层 · 动作控制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25000"/>
              </a:lnSpc>
              <a:spcBef>
                <a:spcPts val="600"/>
              </a:spcBef>
            </a:pP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继电器模块：用于控制水泵或风扇等大功率设备开关。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LED 指示灯：提供简单直观的设备状态或警告信号。</a:t>
            </a:r>
          </a:p>
        </p:txBody>
      </p:sp>
      <p:sp>
        <p:nvSpPr>
          <p:cNvPr id="1048681" name="AutoShape 15"/>
          <p:cNvSpPr/>
          <p:nvPr/>
        </p:nvSpPr>
        <p:spPr>
          <a:xfrm rot="0" flipH="0" flipV="0">
            <a:off x="6223000" y="5080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70" name="Picture 16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 rot="0" flipH="0" flipV="0">
            <a:off x="6477000" y="5397500"/>
            <a:ext cx="762000" cy="762000"/>
          </a:xfrm>
          <a:prstGeom prst="rect"/>
        </p:spPr>
      </p:pic>
      <p:sp>
        <p:nvSpPr>
          <p:cNvPr id="1048682" name="AutoShape 17"/>
          <p:cNvSpPr/>
          <p:nvPr/>
        </p:nvSpPr>
        <p:spPr>
          <a:xfrm rot="0" flipH="0" flipV="0">
            <a:off x="7493000" y="5334000"/>
            <a:ext cx="3683000" cy="889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8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显示模块 · 交互反馈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25000"/>
              </a:lnSpc>
              <a:spcBef>
                <a:spcPts val="600"/>
              </a:spcBef>
            </a:pP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OLED 显示屏：无需背光，低功耗运行，用于实时显示系统运行状态、采集到的环境数据以及连接信息。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AutoShape 2"/>
          <p:cNvSpPr/>
          <p:nvPr/>
        </p:nvSpPr>
        <p:spPr>
          <a:xfrm rot="0" flipH="0" flipV="0">
            <a:off x="762000" y="508000"/>
            <a:ext cx="10668000" cy="571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32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系统总体架构</a:t>
            </a:r>
            <a:endParaRPr sz="1100" lang="en-US"/>
          </a:p>
        </p:txBody>
      </p:sp>
      <p:sp>
        <p:nvSpPr>
          <p:cNvPr id="1048690" name="AutoShape 3"/>
          <p:cNvSpPr/>
          <p:nvPr/>
        </p:nvSpPr>
        <p:spPr>
          <a:xfrm rot="0" flipH="0" flipV="0">
            <a:off x="762000" y="1206500"/>
            <a:ext cx="10668000" cy="381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0" sz="20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核心硬件组件展示</a:t>
            </a:r>
            <a:endParaRPr sz="1100" lang="en-US"/>
          </a:p>
        </p:txBody>
      </p:sp>
      <p:sp>
        <p:nvSpPr>
          <p:cNvPr id="1048691" name="AutoShape 4"/>
          <p:cNvSpPr/>
          <p:nvPr/>
        </p:nvSpPr>
        <p:spPr>
          <a:xfrm rot="0" flipH="0" flipV="0">
            <a:off x="762000" y="2032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71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l="7142" t="0" r="7142" b="0"/>
          <a:stretch>
            <a:fillRect/>
          </a:stretch>
        </p:blipFill>
        <p:spPr>
          <a:xfrm rot="0" flipH="0" flipV="0">
            <a:off x="1016000" y="2222500"/>
            <a:ext cx="1524000" cy="1778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48692" name="AutoShape 6"/>
          <p:cNvSpPr/>
          <p:nvPr/>
        </p:nvSpPr>
        <p:spPr>
          <a:xfrm rot="0" flipH="0" flipV="0">
            <a:off x="2794000" y="2286000"/>
            <a:ext cx="2921000" cy="1651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0000"/>
              </a:lnSpc>
            </a:pPr>
            <a:r>
              <a:rPr b="1" sz="1800" i="0" lang="en-US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ESP32 开发板 · 系统“大脑”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16666"/>
              </a:lnSpc>
              <a:spcBef>
                <a:spcPts val="1000"/>
              </a:spcBef>
            </a:pP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作为主控核心，负责多源数据采集、逻辑运算处理、外围设备精准控制及 WiFi/蓝牙网络通信。</a:t>
            </a:r>
          </a:p>
        </p:txBody>
      </p:sp>
      <p:sp>
        <p:nvSpPr>
          <p:cNvPr id="1048693" name="AutoShape 7"/>
          <p:cNvSpPr/>
          <p:nvPr/>
        </p:nvSpPr>
        <p:spPr>
          <a:xfrm rot="0" flipH="0" flipV="0">
            <a:off x="6223000" y="2032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72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rcRect l="23076" t="0" r="23076" b="0"/>
          <a:stretch>
            <a:fillRect/>
          </a:stretch>
        </p:blipFill>
        <p:spPr>
          <a:xfrm rot="0" flipH="0" flipV="0">
            <a:off x="6413500" y="2286000"/>
            <a:ext cx="889000" cy="1651000"/>
          </a:xfrm>
          <a:prstGeom prst="roundRect">
            <a:avLst>
              <a:gd name="adj" fmla="val 11428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097173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rcRect l="23210" r="23210"/>
          <a:stretch>
            <a:fillRect/>
          </a:stretch>
        </p:blipFill>
        <p:spPr>
          <a:xfrm rot="0" flipH="0" flipV="0">
            <a:off x="7493000" y="2286000"/>
            <a:ext cx="889000" cy="1651000"/>
          </a:xfrm>
          <a:prstGeom prst="roundRect">
            <a:avLst>
              <a:gd name="adj" fmla="val 11428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097174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rcRect l="32047" t="0" r="32047" b="0"/>
          <a:stretch>
            <a:fillRect/>
          </a:stretch>
        </p:blipFill>
        <p:spPr>
          <a:xfrm rot="0" flipH="0" flipV="0">
            <a:off x="8572500" y="2286000"/>
            <a:ext cx="889000" cy="1651000"/>
          </a:xfrm>
          <a:prstGeom prst="roundRect">
            <a:avLst>
              <a:gd name="adj" fmla="val 1142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48694" name="AutoShape 11"/>
          <p:cNvSpPr/>
          <p:nvPr/>
        </p:nvSpPr>
        <p:spPr>
          <a:xfrm rot="0" flipH="0" flipV="0">
            <a:off x="9652000" y="2349500"/>
            <a:ext cx="1651000" cy="1524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0000"/>
              </a:lnSpc>
            </a:pPr>
            <a:r>
              <a:rPr b="1" sz="1700" i="0" lang="en-US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环境感知组合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b="0" sz="12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集成温湿度、土壤水分与光照度传感器，全方位监测作物生长微环境。</a:t>
            </a:r>
          </a:p>
        </p:txBody>
      </p:sp>
      <p:sp>
        <p:nvSpPr>
          <p:cNvPr id="1048695" name="AutoShape 12"/>
          <p:cNvSpPr/>
          <p:nvPr/>
        </p:nvSpPr>
        <p:spPr>
          <a:xfrm rot="0" flipH="0" flipV="0">
            <a:off x="762000" y="4445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75" name="Picture 13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rcRect l="7354" r="7354"/>
          <a:stretch>
            <a:fillRect/>
          </a:stretch>
        </p:blipFill>
        <p:spPr>
          <a:xfrm rot="0" flipH="0" flipV="0">
            <a:off x="1016000" y="4635500"/>
            <a:ext cx="1524000" cy="1778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48696" name="AutoShape 14"/>
          <p:cNvSpPr/>
          <p:nvPr/>
        </p:nvSpPr>
        <p:spPr>
          <a:xfrm rot="0" flipH="0" flipV="0">
            <a:off x="2794000" y="4699000"/>
            <a:ext cx="2921000" cy="1651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0000"/>
              </a:lnSpc>
            </a:pPr>
            <a:r>
              <a:rPr b="1" sz="1800" i="0" lang="en-US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继电器模块 · 执行终端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16666"/>
              </a:lnSpc>
              <a:spcBef>
                <a:spcPts val="1000"/>
              </a:spcBef>
            </a:pP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作为功率开关，通过弱电控制强电，精准驱动水泵进行灌溉、风扇调节通风及补光灯的开关。</a:t>
            </a:r>
          </a:p>
        </p:txBody>
      </p:sp>
      <p:sp>
        <p:nvSpPr>
          <p:cNvPr id="1048697" name="AutoShape 15"/>
          <p:cNvSpPr/>
          <p:nvPr/>
        </p:nvSpPr>
        <p:spPr>
          <a:xfrm rot="0" flipH="0" flipV="0">
            <a:off x="6223000" y="4445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76" name="Picture 16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rcRect l="7142" t="0" r="7142" b="0"/>
          <a:stretch>
            <a:fillRect/>
          </a:stretch>
        </p:blipFill>
        <p:spPr>
          <a:xfrm rot="0" flipH="0" flipV="0">
            <a:off x="6477000" y="4635500"/>
            <a:ext cx="1524000" cy="1778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48698" name="AutoShape 17"/>
          <p:cNvSpPr/>
          <p:nvPr/>
        </p:nvSpPr>
        <p:spPr>
          <a:xfrm rot="0" flipH="0" flipV="0">
            <a:off x="8255000" y="4699000"/>
            <a:ext cx="2921000" cy="1651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0000"/>
              </a:lnSpc>
            </a:pPr>
            <a:r>
              <a:rPr b="1" sz="1800" i="0" lang="en-US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OLED 显示模块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16666"/>
              </a:lnSpc>
              <a:spcBef>
                <a:spcPts val="1000"/>
              </a:spcBef>
            </a:pP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本地实时交互终端，清晰展示当前环境温湿度、光照强度等关键数据及系统运行状态。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AutoShape 2"/>
          <p:cNvSpPr/>
          <p:nvPr/>
        </p:nvSpPr>
        <p:spPr>
          <a:xfrm rot="0" flipH="0" flipV="0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706" name="AutoShape 3"/>
          <p:cNvSpPr/>
          <p:nvPr/>
        </p:nvSpPr>
        <p:spPr>
          <a:xfrm rot="0" flipH="0" flipV="0">
            <a:off x="762000" y="508000"/>
            <a:ext cx="10668000" cy="635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32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系统总体架构</a:t>
            </a:r>
            <a:endParaRPr sz="1100" lang="en-US"/>
          </a:p>
        </p:txBody>
      </p:sp>
      <p:sp>
        <p:nvSpPr>
          <p:cNvPr id="1048707" name="AutoShape 4"/>
          <p:cNvSpPr/>
          <p:nvPr/>
        </p:nvSpPr>
        <p:spPr>
          <a:xfrm rot="0" flipH="0" flipV="0">
            <a:off x="762000" y="1397000"/>
            <a:ext cx="10668000" cy="508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2200" i="0" lang="en-US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软件架构：从端到云的全链路数据流闭环</a:t>
            </a:r>
            <a:endParaRPr sz="1100" lang="en-US"/>
          </a:p>
        </p:txBody>
      </p:sp>
      <p:sp>
        <p:nvSpPr>
          <p:cNvPr id="1048708" name="AutoShape 5"/>
          <p:cNvSpPr/>
          <p:nvPr/>
        </p:nvSpPr>
        <p:spPr>
          <a:xfrm rot="0" flipH="0" flipV="0">
            <a:off x="762000" y="2159000"/>
            <a:ext cx="10668000" cy="571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16666"/>
              </a:lnSpc>
            </a:pPr>
            <a:r>
              <a:rPr b="0" sz="14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系统采用经典的分层设计模式，将端侧感知、边缘计算、网络传输、云端处理与用户交互解耦，确保各层级职责清晰、协作高效，支撑稳定可靠的物联网系统运行。</a:t>
            </a:r>
            <a:endParaRPr sz="1100" lang="en-US"/>
          </a:p>
        </p:txBody>
      </p:sp>
      <p:sp>
        <p:nvSpPr>
          <p:cNvPr id="1048709" name="AutoShape 6"/>
          <p:cNvSpPr/>
          <p:nvPr/>
        </p:nvSpPr>
        <p:spPr>
          <a:xfrm rot="0" flipH="0" flipV="0">
            <a:off x="762000" y="3175000"/>
            <a:ext cx="2032000" cy="3048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710" name="AutoShape 7"/>
          <p:cNvSpPr/>
          <p:nvPr/>
        </p:nvSpPr>
        <p:spPr>
          <a:xfrm rot="0" flipH="0" flipV="0">
            <a:off x="762000" y="3175000"/>
            <a:ext cx="203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77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 flipH="0" flipV="0">
            <a:off x="1016000" y="3556000"/>
            <a:ext cx="508000" cy="508000"/>
          </a:xfrm>
          <a:prstGeom prst="rect"/>
        </p:spPr>
      </p:pic>
      <p:sp>
        <p:nvSpPr>
          <p:cNvPr id="1048711" name="AutoShape 9"/>
          <p:cNvSpPr/>
          <p:nvPr/>
        </p:nvSpPr>
        <p:spPr>
          <a:xfrm rot="0" flipH="0" flipV="0">
            <a:off x="889000" y="4318000"/>
            <a:ext cx="1778000" cy="381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ctr" indent="0">
              <a:lnSpc>
                <a:spcPct val="125000"/>
              </a:lnSpc>
            </a:pPr>
            <a:r>
              <a:rPr b="1" sz="16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硬件驱动层</a:t>
            </a:r>
            <a:endParaRPr sz="1100" lang="en-US"/>
          </a:p>
        </p:txBody>
      </p:sp>
      <p:sp>
        <p:nvSpPr>
          <p:cNvPr id="1048712" name="AutoShape 10"/>
          <p:cNvSpPr/>
          <p:nvPr/>
        </p:nvSpPr>
        <p:spPr>
          <a:xfrm rot="0" flipH="0" flipV="0">
            <a:off x="889000" y="4953000"/>
            <a:ext cx="1778000" cy="1143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t" anchorCtr="0" bIns="0" lIns="0" rIns="0" rtlCol="0" tIns="0" vert="horz" wrap="square"/>
          <a:p>
            <a:pPr algn="ctr" indent="0">
              <a:lnSpc>
                <a:spcPct val="108333"/>
              </a:lnSpc>
            </a:pPr>
            <a:r>
              <a:rPr b="0" sz="12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作为系统底座，直接对接各类传感器与执行器，提供底层数据读取与硬件控制能力。</a:t>
            </a:r>
            <a:endParaRPr sz="1100" lang="en-US"/>
          </a:p>
        </p:txBody>
      </p:sp>
      <p:sp>
        <p:nvSpPr>
          <p:cNvPr id="1048713" name="AutoShape 11"/>
          <p:cNvSpPr/>
          <p:nvPr/>
        </p:nvSpPr>
        <p:spPr>
          <a:xfrm rot="0" flipH="0" flipV="0">
            <a:off x="2984500" y="3175000"/>
            <a:ext cx="2032000" cy="3048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714" name="AutoShape 12"/>
          <p:cNvSpPr/>
          <p:nvPr/>
        </p:nvSpPr>
        <p:spPr>
          <a:xfrm rot="0" flipH="0" flipV="0">
            <a:off x="2984500" y="3175000"/>
            <a:ext cx="203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78" name="Picture 13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 flipH="0" flipV="0">
            <a:off x="3238500" y="3556000"/>
            <a:ext cx="508000" cy="508000"/>
          </a:xfrm>
          <a:prstGeom prst="rect"/>
        </p:spPr>
      </p:pic>
      <p:sp>
        <p:nvSpPr>
          <p:cNvPr id="1048715" name="AutoShape 14"/>
          <p:cNvSpPr/>
          <p:nvPr/>
        </p:nvSpPr>
        <p:spPr>
          <a:xfrm rot="0" flipH="0" flipV="0">
            <a:off x="3111500" y="4318000"/>
            <a:ext cx="1778000" cy="381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ctr" indent="0">
              <a:lnSpc>
                <a:spcPct val="125000"/>
              </a:lnSpc>
            </a:pPr>
            <a:r>
              <a:rPr b="1" sz="16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数据采集与控制层</a:t>
            </a:r>
            <a:endParaRPr sz="1100" lang="en-US"/>
          </a:p>
        </p:txBody>
      </p:sp>
      <p:sp>
        <p:nvSpPr>
          <p:cNvPr id="1048716" name="AutoShape 15"/>
          <p:cNvSpPr/>
          <p:nvPr/>
        </p:nvSpPr>
        <p:spPr>
          <a:xfrm rot="0" flipH="0" flipV="0">
            <a:off x="3111500" y="4953000"/>
            <a:ext cx="1778000" cy="1143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t" anchorCtr="0" bIns="0" lIns="0" rIns="0" rtlCol="0" tIns="0" vert="horz" wrap="square"/>
          <a:p>
            <a:pPr algn="ctr" indent="0">
              <a:lnSpc>
                <a:spcPct val="108333"/>
              </a:lnSpc>
            </a:pPr>
            <a:r>
              <a:rPr b="0" sz="12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核心逻辑运行在ESP32边缘端，负责定时采集环境数据，执行自动化逻辑与控制指令。</a:t>
            </a:r>
            <a:endParaRPr sz="1100" lang="en-US"/>
          </a:p>
        </p:txBody>
      </p:sp>
      <p:sp>
        <p:nvSpPr>
          <p:cNvPr id="1048717" name="AutoShape 16"/>
          <p:cNvSpPr/>
          <p:nvPr/>
        </p:nvSpPr>
        <p:spPr>
          <a:xfrm rot="0" flipH="0" flipV="0">
            <a:off x="5207000" y="3175000"/>
            <a:ext cx="2032000" cy="3048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718" name="AutoShape 17"/>
          <p:cNvSpPr/>
          <p:nvPr/>
        </p:nvSpPr>
        <p:spPr>
          <a:xfrm rot="0" flipH="0" flipV="0">
            <a:off x="5207000" y="3175000"/>
            <a:ext cx="203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79" name="Picture 18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 rot="0" flipH="0" flipV="0">
            <a:off x="5461000" y="3556000"/>
            <a:ext cx="508000" cy="508000"/>
          </a:xfrm>
          <a:prstGeom prst="rect"/>
        </p:spPr>
      </p:pic>
      <p:sp>
        <p:nvSpPr>
          <p:cNvPr id="1048719" name="AutoShape 19"/>
          <p:cNvSpPr/>
          <p:nvPr/>
        </p:nvSpPr>
        <p:spPr>
          <a:xfrm rot="0" flipH="0" flipV="0">
            <a:off x="5334000" y="4318000"/>
            <a:ext cx="1778000" cy="381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ctr" indent="0">
              <a:lnSpc>
                <a:spcPct val="125000"/>
              </a:lnSpc>
            </a:pPr>
            <a:r>
              <a:rPr b="1" sz="16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网络通信层</a:t>
            </a:r>
            <a:endParaRPr sz="1100" lang="en-US"/>
          </a:p>
        </p:txBody>
      </p:sp>
      <p:sp>
        <p:nvSpPr>
          <p:cNvPr id="1048720" name="AutoShape 20"/>
          <p:cNvSpPr/>
          <p:nvPr/>
        </p:nvSpPr>
        <p:spPr>
          <a:xfrm rot="0" flipH="0" flipV="0">
            <a:off x="5334000" y="4953000"/>
            <a:ext cx="1778000" cy="1143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t" anchorCtr="0" bIns="0" lIns="0" rIns="0" rtlCol="0" tIns="0" vert="horz" wrap="square"/>
          <a:p>
            <a:pPr algn="ctr" indent="0">
              <a:lnSpc>
                <a:spcPct val="108333"/>
              </a:lnSpc>
            </a:pPr>
            <a:r>
              <a:rPr b="0" sz="12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基于轻量级、低延迟的MQTT协议，建立端侧与云端的双向通信链路，实现数据上传与指令下发。</a:t>
            </a:r>
            <a:endParaRPr sz="1100" lang="en-US"/>
          </a:p>
        </p:txBody>
      </p:sp>
      <p:sp>
        <p:nvSpPr>
          <p:cNvPr id="1048721" name="AutoShape 21"/>
          <p:cNvSpPr/>
          <p:nvPr/>
        </p:nvSpPr>
        <p:spPr>
          <a:xfrm rot="0" flipH="0" flipV="0">
            <a:off x="7429500" y="3175000"/>
            <a:ext cx="2032000" cy="3048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722" name="AutoShape 22"/>
          <p:cNvSpPr/>
          <p:nvPr/>
        </p:nvSpPr>
        <p:spPr>
          <a:xfrm rot="0" flipH="0" flipV="0">
            <a:off x="7429500" y="3175000"/>
            <a:ext cx="203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80" name="Picture 23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 rot="0" flipH="0" flipV="0">
            <a:off x="7683500" y="3556000"/>
            <a:ext cx="508000" cy="508000"/>
          </a:xfrm>
          <a:prstGeom prst="rect"/>
        </p:spPr>
      </p:pic>
      <p:sp>
        <p:nvSpPr>
          <p:cNvPr id="1048723" name="AutoShape 24"/>
          <p:cNvSpPr/>
          <p:nvPr/>
        </p:nvSpPr>
        <p:spPr>
          <a:xfrm rot="0" flipH="0" flipV="0">
            <a:off x="7556500" y="4318000"/>
            <a:ext cx="1778000" cy="381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ctr" indent="0">
              <a:lnSpc>
                <a:spcPct val="125000"/>
              </a:lnSpc>
            </a:pPr>
            <a:r>
              <a:rPr b="1" sz="16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云端平台层</a:t>
            </a:r>
            <a:endParaRPr sz="1100" lang="en-US"/>
          </a:p>
        </p:txBody>
      </p:sp>
      <p:sp>
        <p:nvSpPr>
          <p:cNvPr id="1048724" name="AutoShape 25"/>
          <p:cNvSpPr/>
          <p:nvPr/>
        </p:nvSpPr>
        <p:spPr>
          <a:xfrm rot="0" flipH="0" flipV="0">
            <a:off x="7556500" y="4953000"/>
            <a:ext cx="1778000" cy="1143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t" anchorCtr="0" bIns="0" lIns="0" rIns="0" rtlCol="0" tIns="0" vert="horz" wrap="square"/>
          <a:p>
            <a:pPr algn="ctr" indent="0">
              <a:lnSpc>
                <a:spcPct val="108333"/>
              </a:lnSpc>
            </a:pPr>
            <a:r>
              <a:rPr b="0" sz="12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基于阿里云IoT平台，提供海量设备管理、数据持久化存储及高可用的后端API服务。</a:t>
            </a:r>
            <a:endParaRPr sz="1100" lang="en-US"/>
          </a:p>
        </p:txBody>
      </p:sp>
      <p:sp>
        <p:nvSpPr>
          <p:cNvPr id="1048725" name="AutoShape 26"/>
          <p:cNvSpPr/>
          <p:nvPr/>
        </p:nvSpPr>
        <p:spPr>
          <a:xfrm rot="0" flipH="0" flipV="0">
            <a:off x="9652000" y="3175000"/>
            <a:ext cx="2032000" cy="3048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726" name="AutoShape 27"/>
          <p:cNvSpPr/>
          <p:nvPr/>
        </p:nvSpPr>
        <p:spPr>
          <a:xfrm rot="0" flipH="0" flipV="0">
            <a:off x="9652000" y="3175000"/>
            <a:ext cx="203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81" name="Picture 28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 rot="0" flipH="0" flipV="0">
            <a:off x="9906000" y="3556000"/>
            <a:ext cx="508000" cy="508000"/>
          </a:xfrm>
          <a:prstGeom prst="rect"/>
        </p:spPr>
      </p:pic>
      <p:sp>
        <p:nvSpPr>
          <p:cNvPr id="1048727" name="AutoShape 29"/>
          <p:cNvSpPr/>
          <p:nvPr/>
        </p:nvSpPr>
        <p:spPr>
          <a:xfrm rot="0" flipH="0" flipV="0">
            <a:off x="9779000" y="4318000"/>
            <a:ext cx="1778000" cy="381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ctr" indent="0">
              <a:lnSpc>
                <a:spcPct val="125000"/>
              </a:lnSpc>
            </a:pPr>
            <a:r>
              <a:rPr b="1" sz="16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用户交互层</a:t>
            </a:r>
            <a:endParaRPr sz="1100" lang="en-US"/>
          </a:p>
        </p:txBody>
      </p:sp>
      <p:sp>
        <p:nvSpPr>
          <p:cNvPr id="1048728" name="AutoShape 30"/>
          <p:cNvSpPr/>
          <p:nvPr/>
        </p:nvSpPr>
        <p:spPr>
          <a:xfrm rot="0" flipH="0" flipV="0">
            <a:off x="9779000" y="4953000"/>
            <a:ext cx="1778000" cy="1143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t" anchorCtr="0" bIns="0" lIns="0" rIns="0" rtlCol="0" tIns="0" vert="horz" wrap="square"/>
          <a:p>
            <a:pPr algn="ctr" indent="0">
              <a:lnSpc>
                <a:spcPct val="108333"/>
              </a:lnSpc>
            </a:pPr>
            <a:r>
              <a:rPr b="0" sz="12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提供移动端APP交互界面，支持用户远程查看实时数据、下发控制指令及接收设备告警。</a:t>
            </a:r>
            <a:endParaRPr sz="11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AutoShape 2"/>
          <p:cNvSpPr/>
          <p:nvPr/>
        </p:nvSpPr>
        <p:spPr>
          <a:xfrm rot="0" flipH="0" flipV="0">
            <a:off x="762000" y="508000"/>
            <a:ext cx="10668000" cy="635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32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核心功能详解</a:t>
            </a:r>
            <a:endParaRPr sz="1100" lang="en-US"/>
          </a:p>
        </p:txBody>
      </p:sp>
      <p:sp>
        <p:nvSpPr>
          <p:cNvPr id="1048736" name="AutoShape 3"/>
          <p:cNvSpPr/>
          <p:nvPr/>
        </p:nvSpPr>
        <p:spPr>
          <a:xfrm rot="0" flipH="0" flipV="0"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82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 flipH="0" flipV="0">
            <a:off x="1066800" y="2032000"/>
            <a:ext cx="406400" cy="406400"/>
          </a:xfrm>
          <a:prstGeom prst="rect"/>
        </p:spPr>
      </p:pic>
      <p:sp>
        <p:nvSpPr>
          <p:cNvPr id="1048737" name="AutoShape 5"/>
          <p:cNvSpPr/>
          <p:nvPr/>
        </p:nvSpPr>
        <p:spPr>
          <a:xfrm rot="0" flipH="0" flipV="0">
            <a:off x="1651000" y="2006600"/>
            <a:ext cx="2032000" cy="4572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2200" i="0" lang="en-US" strike="noStrike" u="non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多源数据采集</a:t>
            </a:r>
            <a:endParaRPr sz="1100" lang="en-US"/>
          </a:p>
        </p:txBody>
      </p:sp>
      <p:sp>
        <p:nvSpPr>
          <p:cNvPr id="1048738" name="AutoShape 6"/>
          <p:cNvSpPr/>
          <p:nvPr/>
        </p:nvSpPr>
        <p:spPr>
          <a:xfrm rot="0" flipH="0" flipV="0">
            <a:off x="1066800" y="2921000"/>
            <a:ext cx="2692400" cy="2794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33333"/>
              </a:lnSpc>
            </a:pPr>
            <a:r>
              <a:rPr b="0" sz="14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系统通过高灵敏度传感器组，以固定频率周期性采集多维环境数据，为后续控制提供精准依据。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50000"/>
              </a:lnSpc>
              <a:spcBef>
                <a:spcPts val="1600"/>
              </a:spcBef>
            </a:pP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环境感知：DHT11 温湿度传感器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土壤监测：电容式土壤湿度传感器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光照检测：BH1750 光照强度传感器</a:t>
            </a:r>
          </a:p>
        </p:txBody>
      </p:sp>
      <p:sp>
        <p:nvSpPr>
          <p:cNvPr id="1048739" name="AutoShape 7"/>
          <p:cNvSpPr/>
          <p:nvPr/>
        </p:nvSpPr>
        <p:spPr>
          <a:xfrm rot="0" flipH="0" flipV="0">
            <a:off x="4445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83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 flipH="0" flipV="0">
            <a:off x="4749800" y="2032000"/>
            <a:ext cx="406400" cy="406400"/>
          </a:xfrm>
          <a:prstGeom prst="rect"/>
        </p:spPr>
      </p:pic>
      <p:sp>
        <p:nvSpPr>
          <p:cNvPr id="1048740" name="AutoShape 9"/>
          <p:cNvSpPr/>
          <p:nvPr/>
        </p:nvSpPr>
        <p:spPr>
          <a:xfrm rot="0" flipH="0" flipV="0">
            <a:off x="5334000" y="2006600"/>
            <a:ext cx="2159000" cy="4572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2200" i="0" lang="en-US" strike="noStrike" u="non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OLED 本地交互</a:t>
            </a:r>
            <a:endParaRPr sz="1100" lang="en-US"/>
          </a:p>
        </p:txBody>
      </p:sp>
      <p:sp>
        <p:nvSpPr>
          <p:cNvPr id="1048741" name="AutoShape 10"/>
          <p:cNvSpPr/>
          <p:nvPr/>
        </p:nvSpPr>
        <p:spPr>
          <a:xfrm rot="0" flipH="0" flipV="0">
            <a:off x="4749800" y="2921000"/>
            <a:ext cx="2692400" cy="2794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33333"/>
              </a:lnSpc>
            </a:pPr>
            <a:r>
              <a:rPr b="0" sz="14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OLED屏幕提供直观、实时的本地状态反馈，支持现场快速调试与状态确认，无需依赖网络。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50000"/>
              </a:lnSpc>
              <a:spcBef>
                <a:spcPts val="1600"/>
              </a:spcBef>
            </a:pP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b="1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实时刷新：</a:t>
            </a: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环境温/湿、土壤湿度、光照值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b="1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模式状态：</a:t>
            </a: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自动运行 / 手动控制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b="1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阈值对比：</a:t>
            </a: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直观显示用户设定的关键阈值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b="1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执行反馈：</a:t>
            </a:r>
            <a:r>
              <a:rPr b="0" sz="13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风扇、水泵的实时开关状态</a:t>
            </a:r>
          </a:p>
        </p:txBody>
      </p:sp>
      <p:sp>
        <p:nvSpPr>
          <p:cNvPr id="1048742" name="AutoShape 11"/>
          <p:cNvSpPr/>
          <p:nvPr/>
        </p:nvSpPr>
        <p:spPr>
          <a:xfrm rot="0" flipH="0" flipV="0">
            <a:off x="8128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84" name="Picture 12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 flipH="0" flipV="0">
            <a:off x="8432800" y="2032000"/>
            <a:ext cx="406400" cy="406400"/>
          </a:xfrm>
          <a:prstGeom prst="rect"/>
        </p:spPr>
      </p:pic>
      <p:sp>
        <p:nvSpPr>
          <p:cNvPr id="1048743" name="AutoShape 13"/>
          <p:cNvSpPr/>
          <p:nvPr/>
        </p:nvSpPr>
        <p:spPr>
          <a:xfrm rot="0" flipH="0" flipV="0">
            <a:off x="9017000" y="2006600"/>
            <a:ext cx="2159000" cy="4572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2200" i="0" lang="en-US" strike="noStrike" u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模拟显示界面</a:t>
            </a:r>
            <a:endParaRPr sz="1100" lang="en-US"/>
          </a:p>
        </p:txBody>
      </p:sp>
      <p:sp>
        <p:nvSpPr>
          <p:cNvPr id="1048744" name="AutoShape 14"/>
          <p:cNvSpPr/>
          <p:nvPr/>
        </p:nvSpPr>
        <p:spPr>
          <a:xfrm rot="0" flipH="0" flipV="0">
            <a:off x="8382000" y="2921000"/>
            <a:ext cx="2794000" cy="2794000"/>
          </a:xfrm>
          <a:prstGeom prst="roundRect">
            <a:avLst>
              <a:gd name="adj" fmla="val 3636"/>
            </a:avLst>
          </a:prstGeom>
          <a:solidFill>
            <a:srgbClr val="11182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745" name="AutoShape 15"/>
          <p:cNvSpPr/>
          <p:nvPr/>
        </p:nvSpPr>
        <p:spPr>
          <a:xfrm rot="0" flipH="0" flipV="0">
            <a:off x="8572500" y="3175000"/>
            <a:ext cx="2413000" cy="2286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33333"/>
              </a:lnSpc>
            </a:pPr>
            <a:r>
              <a:rPr b="0" sz="1300" i="0" lang="en-US" strike="noStrike" u="non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💧 湿度：72% 🤖 自动模式</a:t>
            </a:r>
            <a:r>
              <a:rPr b="0" sz="13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b="0" sz="13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b="0" sz="1300" i="0" lang="en-US" strike="noStrike" u="non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🌡️ 温度：32.3℃ 阈值：45</a:t>
            </a:r>
            <a:r>
              <a:rPr b="0" sz="13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b="0" sz="13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b="0" sz="1300" i="0" lang="en-US" strike="noStrike" u="non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🌱 土壤：45% 阈值：60</a:t>
            </a:r>
            <a:r>
              <a:rPr b="0" sz="13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b="0" sz="13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b="0" sz="1300" i="0" lang="en-US" strike="noStrike" u="non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☀️ 光照：866lux 阈值：1000</a:t>
            </a:r>
            <a:r>
              <a:rPr b="0" sz="13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b="0" sz="13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b="0" sz="1300" i="0" lang="en-US" strike="noStrike" u="non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🚿 浇水：关闭 🌀 风扇：关闭</a:t>
            </a:r>
            <a:endParaRPr sz="1100" lang="en-US"/>
          </a:p>
        </p:txBody>
      </p:sp>
      <p:pic>
        <p:nvPicPr>
          <p:cNvPr id="2097185" name=""/>
          <p:cNvPicPr>
            <a:picLocks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 rot="0">
            <a:off x="8460460" y="3629768"/>
            <a:ext cx="2525040" cy="1376462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2" name="AutoShape 2"/>
          <p:cNvSpPr/>
          <p:nvPr/>
        </p:nvSpPr>
        <p:spPr>
          <a:xfrm rot="0" flipH="0" flipV="0">
            <a:off x="762000" y="508000"/>
            <a:ext cx="10668000" cy="508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32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核心功能详解</a:t>
            </a:r>
            <a:endParaRPr sz="1100" lang="en-US"/>
          </a:p>
        </p:txBody>
      </p:sp>
      <p:sp>
        <p:nvSpPr>
          <p:cNvPr id="1048753" name="AutoShape 3"/>
          <p:cNvSpPr/>
          <p:nvPr/>
        </p:nvSpPr>
        <p:spPr>
          <a:xfrm rot="0" flipH="0" flipV="0">
            <a:off x="762000" y="1270000"/>
            <a:ext cx="10668000" cy="381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0" sz="20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智能控制策略：自动与手动的完美结合</a:t>
            </a:r>
            <a:endParaRPr sz="1100" lang="en-US"/>
          </a:p>
        </p:txBody>
      </p:sp>
      <p:sp>
        <p:nvSpPr>
          <p:cNvPr id="1048754" name="AutoShape 4"/>
          <p:cNvSpPr/>
          <p:nvPr/>
        </p:nvSpPr>
        <p:spPr>
          <a:xfrm rot="0" flipH="0" flipV="0">
            <a:off x="762000" y="2159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86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 flipH="0" flipV="0">
            <a:off x="1066800" y="2540000"/>
            <a:ext cx="457200" cy="457200"/>
          </a:xfrm>
          <a:prstGeom prst="rect"/>
        </p:spPr>
      </p:pic>
      <p:sp>
        <p:nvSpPr>
          <p:cNvPr id="1048755" name="AutoShape 6"/>
          <p:cNvSpPr/>
          <p:nvPr/>
        </p:nvSpPr>
        <p:spPr>
          <a:xfrm rot="0" flipH="0" flipV="0">
            <a:off x="1651000" y="2540000"/>
            <a:ext cx="2032000" cy="4572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20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自动控制模式</a:t>
            </a:r>
            <a:endParaRPr sz="1100" lang="en-US"/>
          </a:p>
        </p:txBody>
      </p:sp>
      <p:sp>
        <p:nvSpPr>
          <p:cNvPr id="1048756" name="AutoShape 7"/>
          <p:cNvSpPr/>
          <p:nvPr/>
        </p:nvSpPr>
        <p:spPr>
          <a:xfrm rot="0" flipH="0" flipV="0">
            <a:off x="1016000" y="3429000"/>
            <a:ext cx="2794000" cy="2413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33333"/>
              </a:lnSpc>
            </a:pPr>
            <a:r>
              <a:rPr b="1" sz="14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智能灌溉：</a:t>
            </a: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土壤湿度低于预设阈值时，自动开启水泵进行补水，维持最佳生长湿度。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33333"/>
              </a:lnSpc>
            </a:pPr>
            <a:r>
              <a:rPr b="1" sz="14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智能通风：</a:t>
            </a: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监测到环境温度过高时，自动打开排风扇，调节环境温度，防止闷热。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33333"/>
              </a:lnSpc>
            </a:pPr>
            <a:r>
              <a:rPr b="1" sz="14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智能补光：</a:t>
            </a: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当自然光照不足时，自动点亮植物生长LED灯，补足光合作用所需光照。</a:t>
            </a:r>
          </a:p>
        </p:txBody>
      </p:sp>
      <p:sp>
        <p:nvSpPr>
          <p:cNvPr id="1048757" name="AutoShape 8"/>
          <p:cNvSpPr/>
          <p:nvPr/>
        </p:nvSpPr>
        <p:spPr>
          <a:xfrm rot="0" flipH="0" flipV="0">
            <a:off x="4445000" y="2159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87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 flipH="0" flipV="0">
            <a:off x="4749800" y="2540000"/>
            <a:ext cx="457200" cy="457200"/>
          </a:xfrm>
          <a:prstGeom prst="rect"/>
        </p:spPr>
      </p:pic>
      <p:sp>
        <p:nvSpPr>
          <p:cNvPr id="1048758" name="AutoShape 10"/>
          <p:cNvSpPr/>
          <p:nvPr/>
        </p:nvSpPr>
        <p:spPr>
          <a:xfrm rot="0" flipH="0" flipV="0">
            <a:off x="5334000" y="2540000"/>
            <a:ext cx="2032000" cy="4572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20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手动控制模式</a:t>
            </a:r>
            <a:endParaRPr sz="1100" lang="en-US"/>
          </a:p>
        </p:txBody>
      </p:sp>
      <p:sp>
        <p:nvSpPr>
          <p:cNvPr id="1048759" name="AutoShape 11"/>
          <p:cNvSpPr/>
          <p:nvPr/>
        </p:nvSpPr>
        <p:spPr>
          <a:xfrm rot="0" flipH="0" flipV="0">
            <a:off x="4699000" y="3429000"/>
            <a:ext cx="2794000" cy="2413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50000"/>
              </a:lnSpc>
            </a:pPr>
            <a:r>
              <a:rPr b="1" sz="14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远程精准操控：</a:t>
            </a: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用户可通过手机APP上的独立控制按键，随时随地分别对浇水、通风、补光设备进行开关控制，响应即时需求。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50000"/>
              </a:lnSpc>
            </a:pPr>
            <a:r>
              <a:rPr b="1" sz="14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灵活人工干预：</a:t>
            </a: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在节假日、极端天气等特殊情况下，允许用户直接接管设备状态，提供个性化的种植体验。</a:t>
            </a:r>
          </a:p>
        </p:txBody>
      </p:sp>
      <p:sp>
        <p:nvSpPr>
          <p:cNvPr id="1048760" name="AutoShape 12"/>
          <p:cNvSpPr/>
          <p:nvPr/>
        </p:nvSpPr>
        <p:spPr>
          <a:xfrm rot="0" flipH="0" flipV="0">
            <a:off x="8128000" y="2159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88" name="Picture 13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 flipH="0" flipV="0">
            <a:off x="8432800" y="2540000"/>
            <a:ext cx="457200" cy="457200"/>
          </a:xfrm>
          <a:prstGeom prst="rect"/>
        </p:spPr>
      </p:pic>
      <p:sp>
        <p:nvSpPr>
          <p:cNvPr id="1048761" name="AutoShape 14"/>
          <p:cNvSpPr/>
          <p:nvPr/>
        </p:nvSpPr>
        <p:spPr>
          <a:xfrm rot="0" flipH="0" flipV="0">
            <a:off x="9017000" y="2540000"/>
            <a:ext cx="2032000" cy="4572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20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一键模式切换</a:t>
            </a:r>
            <a:endParaRPr sz="1100" lang="en-US"/>
          </a:p>
        </p:txBody>
      </p:sp>
      <p:sp>
        <p:nvSpPr>
          <p:cNvPr id="1048762" name="AutoShape 15"/>
          <p:cNvSpPr/>
          <p:nvPr/>
        </p:nvSpPr>
        <p:spPr>
          <a:xfrm rot="0" flipH="0" flipV="0">
            <a:off x="8382000" y="3556000"/>
            <a:ext cx="2794000" cy="2159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ctr" indent="0">
              <a:lnSpc>
                <a:spcPct val="133333"/>
              </a:lnSpc>
            </a:pPr>
            <a:r>
              <a:rPr b="1" sz="1400" i="0" lang="en-US" strike="noStrike" u="non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高效省心 vs 个性灵活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ctr" indent="0">
              <a:lnSpc>
                <a:spcPct val="125000"/>
              </a:lnSpc>
            </a:pP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用户只需在APP的控制中心界面，轻点切换按钮，即可在“自动模式”与“手动模式”之间无缝切换，轻松兼顾种植效率与个性化需求。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AutoShape 2"/>
          <p:cNvSpPr/>
          <p:nvPr/>
        </p:nvSpPr>
        <p:spPr>
          <a:xfrm rot="0" flipH="0" flipV="0">
            <a:off x="762000" y="508000"/>
            <a:ext cx="10668000" cy="571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32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核心功能详解</a:t>
            </a:r>
            <a:endParaRPr sz="1100" lang="en-US"/>
          </a:p>
        </p:txBody>
      </p:sp>
      <p:sp>
        <p:nvSpPr>
          <p:cNvPr id="1048770" name="AutoShape 3"/>
          <p:cNvSpPr/>
          <p:nvPr/>
        </p:nvSpPr>
        <p:spPr>
          <a:xfrm rot="0" flipH="0" flipV="0">
            <a:off x="762000" y="1270000"/>
            <a:ext cx="10668000" cy="444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2400" i="0" lang="en-US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远程监控与参数配置</a:t>
            </a:r>
            <a:endParaRPr sz="1100" lang="en-US"/>
          </a:p>
        </p:txBody>
      </p:sp>
      <p:pic>
        <p:nvPicPr>
          <p:cNvPr id="2097189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t="5964" b="5964"/>
          <a:stretch>
            <a:fillRect/>
          </a:stretch>
        </p:blipFill>
        <p:spPr>
          <a:xfrm rot="0" flipH="0" flipV="0">
            <a:off x="1034757" y="2006648"/>
            <a:ext cx="2360635" cy="4597352"/>
          </a:xfrm>
          <a:prstGeom prst="roundRect">
            <a:avLst>
              <a:gd name="adj" fmla="val 3870"/>
            </a:avLst>
          </a:prstGeom>
          <a:noFill/>
          <a:ln w="25400" cap="flat" cmpd="sng">
            <a:noFill/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</p:pic>
      <p:sp>
        <p:nvSpPr>
          <p:cNvPr id="1048771" name="AutoShape 5"/>
          <p:cNvSpPr/>
          <p:nvPr/>
        </p:nvSpPr>
        <p:spPr>
          <a:xfrm rot="0" flipH="0" flipV="0">
            <a:off x="5842000" y="2159000"/>
            <a:ext cx="5588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90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 flipH="0" flipV="0">
            <a:off x="6096000" y="2476500"/>
            <a:ext cx="609600" cy="609600"/>
          </a:xfrm>
          <a:prstGeom prst="rect"/>
        </p:spPr>
      </p:pic>
      <p:sp>
        <p:nvSpPr>
          <p:cNvPr id="1048772" name="AutoShape 7"/>
          <p:cNvSpPr/>
          <p:nvPr/>
        </p:nvSpPr>
        <p:spPr>
          <a:xfrm rot="0" flipH="0" flipV="0">
            <a:off x="6985000" y="2349500"/>
            <a:ext cx="4191000" cy="1016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8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实时数据监控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16666"/>
              </a:lnSpc>
            </a:pP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用户通过APP可以实时查看大棚内的环境温度、湿度、土壤湿度和光照强度，数据与云端实时同步，掌握一手环境信息。</a:t>
            </a:r>
          </a:p>
        </p:txBody>
      </p:sp>
      <p:sp>
        <p:nvSpPr>
          <p:cNvPr id="1048773" name="AutoShape 8"/>
          <p:cNvSpPr/>
          <p:nvPr/>
        </p:nvSpPr>
        <p:spPr>
          <a:xfrm rot="0" flipH="0" flipV="0">
            <a:off x="5842000" y="3810000"/>
            <a:ext cx="5588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91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 flipH="0" flipV="0">
            <a:off x="6096000" y="4127500"/>
            <a:ext cx="609600" cy="609600"/>
          </a:xfrm>
          <a:prstGeom prst="rect"/>
        </p:spPr>
      </p:pic>
      <p:sp>
        <p:nvSpPr>
          <p:cNvPr id="1048774" name="AutoShape 10"/>
          <p:cNvSpPr/>
          <p:nvPr/>
        </p:nvSpPr>
        <p:spPr>
          <a:xfrm rot="0" flipH="0" flipV="0">
            <a:off x="6985000" y="4000500"/>
            <a:ext cx="4191000" cy="1016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8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远程阈值设置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16666"/>
              </a:lnSpc>
            </a:pP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用户可在APP上灵活远程设置土壤湿度、环境温度及光照度等关键指标的控制阈值，系统自动根据设定值执行调控动作。</a:t>
            </a:r>
          </a:p>
        </p:txBody>
      </p:sp>
      <p:sp>
        <p:nvSpPr>
          <p:cNvPr id="1048775" name="AutoShape 11"/>
          <p:cNvSpPr/>
          <p:nvPr/>
        </p:nvSpPr>
        <p:spPr>
          <a:xfrm rot="0" flipH="0" flipV="0">
            <a:off x="5842000" y="5207000"/>
            <a:ext cx="5588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92" name="Picture 12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 rot="0" flipH="0" flipV="0">
            <a:off x="6096000" y="5524500"/>
            <a:ext cx="609600" cy="609600"/>
          </a:xfrm>
          <a:prstGeom prst="rect"/>
        </p:spPr>
      </p:pic>
      <p:sp>
        <p:nvSpPr>
          <p:cNvPr id="1048776" name="AutoShape 13"/>
          <p:cNvSpPr/>
          <p:nvPr/>
        </p:nvSpPr>
        <p:spPr>
          <a:xfrm rot="0" flipH="0" flipV="0">
            <a:off x="6985000" y="5397500"/>
            <a:ext cx="4191000" cy="1016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8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断电数据保存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16666"/>
              </a:lnSpc>
            </a:pP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所有阈值参数均被写入ESP32芯片的非易失性存储中。即使设备意外断电重启，设置也能完全保留，无需重复配置。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AutoShape 2"/>
          <p:cNvSpPr/>
          <p:nvPr/>
        </p:nvSpPr>
        <p:spPr>
          <a:xfrm rot="0" flipH="0" flipV="0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784" name="AutoShape 3"/>
          <p:cNvSpPr/>
          <p:nvPr/>
        </p:nvSpPr>
        <p:spPr>
          <a:xfrm rot="0" flipH="0" flipV="0">
            <a:off x="762000" y="508000"/>
            <a:ext cx="10668000" cy="635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32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系统实现与操作流程</a:t>
            </a:r>
            <a:endParaRPr sz="1100" lang="en-US"/>
          </a:p>
        </p:txBody>
      </p:sp>
      <p:sp>
        <p:nvSpPr>
          <p:cNvPr id="1048785" name="AutoShape 4"/>
          <p:cNvSpPr/>
          <p:nvPr/>
        </p:nvSpPr>
        <p:spPr>
          <a:xfrm rot="0" flipH="0" flipV="0">
            <a:off x="762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786" name="AutoShape 5"/>
          <p:cNvSpPr/>
          <p:nvPr/>
        </p:nvSpPr>
        <p:spPr>
          <a:xfrm rot="0" flipH="0" flipV="0">
            <a:off x="1016000" y="1905000"/>
            <a:ext cx="4699000" cy="381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2000" i="0" lang="en-US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 开发环境搭建</a:t>
            </a:r>
            <a:endParaRPr sz="1100" lang="en-US"/>
          </a:p>
        </p:txBody>
      </p:sp>
      <p:pic>
        <p:nvPicPr>
          <p:cNvPr id="2097193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rcRect l="0" t="10489" r="0" b="10489"/>
          <a:stretch>
            <a:fillRect/>
          </a:stretch>
        </p:blipFill>
        <p:spPr>
          <a:xfrm rot="0" flipH="0" flipV="0">
            <a:off x="1016000" y="2667000"/>
            <a:ext cx="2222500" cy="1778000"/>
          </a:xfrm>
          <a:prstGeom prst="rect"/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pic>
        <p:nvPicPr>
          <p:cNvPr id="2097194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rcRect l="0" t="13341" r="0" b="13341"/>
          <a:stretch>
            <a:fillRect/>
          </a:stretch>
        </p:blipFill>
        <p:spPr>
          <a:xfrm rot="0" flipH="0" flipV="0">
            <a:off x="3492500" y="2667000"/>
            <a:ext cx="2222500" cy="1778000"/>
          </a:xfrm>
          <a:prstGeom prst="rect"/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id="1048787" name="AutoShape 8"/>
          <p:cNvSpPr/>
          <p:nvPr/>
        </p:nvSpPr>
        <p:spPr>
          <a:xfrm rot="0" flipH="0" flipV="0">
            <a:off x="1016000" y="4699000"/>
            <a:ext cx="4699000" cy="1397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16666"/>
              </a:lnSpc>
            </a:pPr>
            <a:r>
              <a:rPr b="1" sz="13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工具安装：</a:t>
            </a: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安装 Arduino IDE 1.8.10 作为开发核心工具</a:t>
            </a:r>
            <a:r>
              <a:rPr b="0" sz="13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16666"/>
              </a:lnSpc>
            </a:pPr>
            <a:r>
              <a:rPr b="1" sz="13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平台配置：</a:t>
            </a: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 IDE 中添加 ESP32 开发板支持包 (版本 1.0.6)</a:t>
            </a:r>
            <a:r>
              <a:rPr b="0" sz="13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b="1" sz="13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 依赖引入：</a:t>
            </a: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下载并安装 ArduinoJson, U8g2, PubSubClient 等项目必需库</a:t>
            </a:r>
          </a:p>
        </p:txBody>
      </p:sp>
      <p:sp>
        <p:nvSpPr>
          <p:cNvPr id="1048788" name="AutoShape 9"/>
          <p:cNvSpPr/>
          <p:nvPr/>
        </p:nvSpPr>
        <p:spPr>
          <a:xfrm rot="0" flipH="0" flipV="0">
            <a:off x="6223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789" name="AutoShape 10"/>
          <p:cNvSpPr/>
          <p:nvPr/>
        </p:nvSpPr>
        <p:spPr>
          <a:xfrm rot="0" flipH="0" flipV="0">
            <a:off x="6477000" y="1905000"/>
            <a:ext cx="4699000" cy="381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2000" i="0" lang="en-US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 硬件组装与接线</a:t>
            </a:r>
            <a:endParaRPr sz="1100" lang="en-US"/>
          </a:p>
        </p:txBody>
      </p:sp>
      <p:pic>
        <p:nvPicPr>
          <p:cNvPr id="2097195" name="Picture 11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 rot="0" flipH="0" flipV="0">
            <a:off x="8293100" y="2794000"/>
            <a:ext cx="1066800" cy="1066800"/>
          </a:xfrm>
          <a:prstGeom prst="rect"/>
        </p:spPr>
      </p:pic>
      <p:sp>
        <p:nvSpPr>
          <p:cNvPr id="1048790" name="AutoShape 12"/>
          <p:cNvSpPr/>
          <p:nvPr/>
        </p:nvSpPr>
        <p:spPr>
          <a:xfrm rot="0" flipH="0" flipV="0">
            <a:off x="6477000" y="4191000"/>
            <a:ext cx="4699000" cy="1905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just" indent="0">
              <a:lnSpc>
                <a:spcPct val="133333"/>
              </a:lnSpc>
            </a:pPr>
            <a:r>
              <a:rPr b="0" sz="14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根据项目文档中提供的“模块接线说明”，将温湿度传感器、显示屏、继电器等各功能模块，一一对应焊接或杜邦线连接到 ESP32 开发板的指定 GPIO 引脚上。</a:t>
            </a:r>
            <a:r>
              <a:rPr b="0" sz="14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33333"/>
              </a:lnSpc>
              <a:spcBef>
                <a:spcPts val="1500"/>
              </a:spcBef>
            </a:pPr>
            <a:r>
              <a:rPr b="1" sz="1400" i="0" lang="en-US" strike="noStrike" u="non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特别注意：在接通电源前，请务必仔细检查正负极与信号线，防止因接反而造成硬件不可逆损坏。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AutoShape 2"/>
          <p:cNvSpPr/>
          <p:nvPr/>
        </p:nvSpPr>
        <p:spPr>
          <a:xfrm rot="0" flipH="0" flipV="0">
            <a:off x="762000" y="508000"/>
            <a:ext cx="10668000" cy="508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32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系统实现与操作流程</a:t>
            </a:r>
            <a:endParaRPr sz="1100" lang="en-US"/>
          </a:p>
        </p:txBody>
      </p:sp>
      <p:sp>
        <p:nvSpPr>
          <p:cNvPr id="1048798" name="AutoShape 3"/>
          <p:cNvSpPr/>
          <p:nvPr/>
        </p:nvSpPr>
        <p:spPr>
          <a:xfrm rot="0" flipH="0" flipV="0">
            <a:off x="762000" y="1270000"/>
            <a:ext cx="10668000" cy="381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0" sz="20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云端平台配置 · 阿里云生活物联网平台 (Link Develop)</a:t>
            </a:r>
            <a:endParaRPr sz="1100" lang="en-US"/>
          </a:p>
        </p:txBody>
      </p:sp>
      <p:sp>
        <p:nvSpPr>
          <p:cNvPr id="1048799" name="AutoShape 4"/>
          <p:cNvSpPr/>
          <p:nvPr/>
        </p:nvSpPr>
        <p:spPr>
          <a:xfrm rot="0" flipH="0" flipV="0">
            <a:off x="762000" y="20320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800" name="AutoShape 5"/>
          <p:cNvSpPr/>
          <p:nvPr/>
        </p:nvSpPr>
        <p:spPr>
          <a:xfrm rot="0" flipH="0" flipV="0">
            <a:off x="762000" y="2032000"/>
            <a:ext cx="762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801" name="AutoShape 6"/>
          <p:cNvSpPr/>
          <p:nvPr/>
        </p:nvSpPr>
        <p:spPr>
          <a:xfrm rot="0" flipH="0" flipV="0">
            <a:off x="1016000" y="2159000"/>
            <a:ext cx="4699000" cy="698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6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注册与登录</a:t>
            </a: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注册阿里云账号，完成个人/企业实名认证，确保账户权限正常。</a:t>
            </a:r>
            <a:endParaRPr sz="1100" lang="en-US"/>
          </a:p>
        </p:txBody>
      </p:sp>
      <p:sp>
        <p:nvSpPr>
          <p:cNvPr id="1048802" name="AutoShape 7"/>
          <p:cNvSpPr/>
          <p:nvPr/>
        </p:nvSpPr>
        <p:spPr>
          <a:xfrm rot="0" flipH="0" flipV="0">
            <a:off x="762000" y="31750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803" name="AutoShape 8"/>
          <p:cNvSpPr/>
          <p:nvPr/>
        </p:nvSpPr>
        <p:spPr>
          <a:xfrm rot="0" flipH="0" flipV="0">
            <a:off x="762000" y="3175000"/>
            <a:ext cx="762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804" name="AutoShape 9"/>
          <p:cNvSpPr/>
          <p:nvPr/>
        </p:nvSpPr>
        <p:spPr>
          <a:xfrm rot="0" flipH="0" flipV="0">
            <a:off x="1016000" y="3302000"/>
            <a:ext cx="4699000" cy="698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6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创建项目</a:t>
            </a: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访问</a:t>
            </a:r>
            <a:r>
              <a:rPr b="0" sz="1300" i="0" lang="en-US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living.aliyun.com</a:t>
            </a: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登录控制台，在左侧导航栏创建新项目以管理设备。</a:t>
            </a:r>
            <a:endParaRPr sz="1100" lang="en-US"/>
          </a:p>
        </p:txBody>
      </p:sp>
      <p:sp>
        <p:nvSpPr>
          <p:cNvPr id="1048805" name="AutoShape 10"/>
          <p:cNvSpPr/>
          <p:nvPr/>
        </p:nvSpPr>
        <p:spPr>
          <a:xfrm rot="0" flipH="0" flipV="0">
            <a:off x="762000" y="4318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806" name="AutoShape 11"/>
          <p:cNvSpPr/>
          <p:nvPr/>
        </p:nvSpPr>
        <p:spPr>
          <a:xfrm rot="0" flipH="0" flipV="0">
            <a:off x="762000" y="4318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807" name="AutoShape 12"/>
          <p:cNvSpPr/>
          <p:nvPr/>
        </p:nvSpPr>
        <p:spPr>
          <a:xfrm rot="0" flipH="0" flipV="0">
            <a:off x="1016000" y="4445000"/>
            <a:ext cx="4699000" cy="952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6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产品定义 (核心配置)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25000"/>
              </a:lnSpc>
            </a:pPr>
            <a:r>
              <a:rPr b="0" sz="12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品类：其他/传感器信号采集器 | 节点：网关 | 联网：</a:t>
            </a:r>
            <a:r>
              <a:rPr b="1" sz="1200" i="0" lang="en-US" strike="noStrike" u="non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蜂窝(4G/NB-IoT)</a:t>
            </a:r>
            <a:r>
              <a:rPr b="0" sz="12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| 格式：</a:t>
            </a:r>
            <a:r>
              <a:rPr b="1" sz="12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ICA 标准 (Alink JSON)</a:t>
            </a:r>
          </a:p>
        </p:txBody>
      </p:sp>
      <p:sp>
        <p:nvSpPr>
          <p:cNvPr id="1048808" name="AutoShape 13"/>
          <p:cNvSpPr/>
          <p:nvPr/>
        </p:nvSpPr>
        <p:spPr>
          <a:xfrm rot="0" flipH="0" flipV="0">
            <a:off x="762000" y="5651500"/>
            <a:ext cx="24765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809" name="AutoShape 14"/>
          <p:cNvSpPr/>
          <p:nvPr/>
        </p:nvSpPr>
        <p:spPr>
          <a:xfrm rot="0" flipH="0" flipV="0">
            <a:off x="889000" y="5778500"/>
            <a:ext cx="2222500" cy="762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4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04. 创建设备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25000"/>
              </a:lnSpc>
            </a:pPr>
            <a:r>
              <a:rPr b="0" sz="12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获取设备唯一的三元组：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b="0" sz="12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ProductKey / DeviceName / Secret</a:t>
            </a:r>
          </a:p>
        </p:txBody>
      </p:sp>
      <p:sp>
        <p:nvSpPr>
          <p:cNvPr id="1048810" name="AutoShape 15"/>
          <p:cNvSpPr/>
          <p:nvPr/>
        </p:nvSpPr>
        <p:spPr>
          <a:xfrm rot="0" flipH="0" flipV="0">
            <a:off x="3492500" y="5651500"/>
            <a:ext cx="24765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811" name="AutoShape 16"/>
          <p:cNvSpPr/>
          <p:nvPr/>
        </p:nvSpPr>
        <p:spPr>
          <a:xfrm rot="0" flipH="0" flipV="0">
            <a:off x="3619500" y="5778500"/>
            <a:ext cx="2222500" cy="762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4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05. 程序烧录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25000"/>
              </a:lnSpc>
            </a:pPr>
            <a:r>
              <a:rPr b="0" sz="12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将上述三元组信息写入Arduino代码，完成设备与云端的绑定。</a:t>
            </a:r>
          </a:p>
        </p:txBody>
      </p:sp>
      <p:pic>
        <p:nvPicPr>
          <p:cNvPr id="2097196" name="Picture 17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l="7686" t="0" r="7686" b="0"/>
          <a:stretch>
            <a:fillRect/>
          </a:stretch>
        </p:blipFill>
        <p:spPr>
          <a:xfrm rot="0" flipH="0" flipV="0">
            <a:off x="6223000" y="2032000"/>
            <a:ext cx="5207000" cy="2222500"/>
          </a:xfrm>
          <a:prstGeom prst="roundRect">
            <a:avLst>
              <a:gd name="adj" fmla="val 6857"/>
            </a:avLst>
          </a:prstGeom>
          <a:noFill/>
          <a:ln w="25400" cap="flat" cmpd="sng">
            <a:noFill/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</p:pic>
      <p:pic>
        <p:nvPicPr>
          <p:cNvPr id="2097197" name="Picture 18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rcRect l="0" t="30372" r="0" b="30372"/>
          <a:stretch>
            <a:fillRect/>
          </a:stretch>
        </p:blipFill>
        <p:spPr>
          <a:xfrm rot="0" flipH="0" flipV="0">
            <a:off x="6223000" y="4445000"/>
            <a:ext cx="5207000" cy="2222500"/>
          </a:xfrm>
          <a:prstGeom prst="roundRect">
            <a:avLst>
              <a:gd name="adj" fmla="val 6857"/>
            </a:avLst>
          </a:prstGeom>
          <a:noFill/>
          <a:ln w="25400" cap="flat" cmpd="sng">
            <a:noFill/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AutoShape 2"/>
          <p:cNvSpPr/>
          <p:nvPr/>
        </p:nvSpPr>
        <p:spPr>
          <a:xfrm rot="0" flipH="0" flipV="0">
            <a:off x="762000" y="508000"/>
            <a:ext cx="10668000" cy="571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32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系统实现与操作流程</a:t>
            </a:r>
            <a:endParaRPr sz="1100" lang="en-US"/>
          </a:p>
        </p:txBody>
      </p:sp>
      <p:sp>
        <p:nvSpPr>
          <p:cNvPr id="1048819" name="AutoShape 3"/>
          <p:cNvSpPr/>
          <p:nvPr/>
        </p:nvSpPr>
        <p:spPr>
          <a:xfrm rot="0" flipH="0" flipV="0">
            <a:off x="762000" y="1270000"/>
            <a:ext cx="10668000" cy="444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2200" i="0" lang="en-US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固件烧录与调试</a:t>
            </a:r>
            <a:endParaRPr sz="1100" lang="en-US"/>
          </a:p>
        </p:txBody>
      </p:sp>
      <p:sp>
        <p:nvSpPr>
          <p:cNvPr id="1048820" name="AutoShape 4"/>
          <p:cNvSpPr/>
          <p:nvPr/>
        </p:nvSpPr>
        <p:spPr>
          <a:xfrm rot="0" flipH="0" flipV="0">
            <a:off x="762000" y="2159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98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 flipH="0" flipV="0">
            <a:off x="1016000" y="2413000"/>
            <a:ext cx="457200" cy="457200"/>
          </a:xfrm>
          <a:prstGeom prst="rect"/>
        </p:spPr>
      </p:pic>
      <p:sp>
        <p:nvSpPr>
          <p:cNvPr id="1048821" name="AutoShape 6"/>
          <p:cNvSpPr/>
          <p:nvPr/>
        </p:nvSpPr>
        <p:spPr>
          <a:xfrm rot="0" flipH="0" flipV="0">
            <a:off x="1600200" y="2413000"/>
            <a:ext cx="2159000" cy="508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8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准备与配置</a:t>
            </a:r>
            <a:endParaRPr sz="1100" lang="en-US"/>
          </a:p>
        </p:txBody>
      </p:sp>
      <p:sp>
        <p:nvSpPr>
          <p:cNvPr id="1048822" name="AutoShape 7"/>
          <p:cNvSpPr/>
          <p:nvPr/>
        </p:nvSpPr>
        <p:spPr>
          <a:xfrm rot="0" flipH="0" flipV="0">
            <a:off x="1016000" y="3302000"/>
            <a:ext cx="2794000" cy="2413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b="1" sz="1400" i="0" lang="en-US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01. 打开项目：</a:t>
            </a: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 Arduino IDE 中打开修改好的 .ino 项目文件，确保代码逻辑无误。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25000"/>
              </a:lnSpc>
              <a:spcBef>
                <a:spcPts val="1600"/>
              </a:spcBef>
            </a:pPr>
            <a:r>
              <a:rPr b="1" sz="1400" i="0" lang="en-US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02. 配置开发板：</a:t>
            </a: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在“工具”菜单中，准确选择 ESP32 开发板型号及对应的计算机连接端口。</a:t>
            </a:r>
          </a:p>
        </p:txBody>
      </p:sp>
      <p:sp>
        <p:nvSpPr>
          <p:cNvPr id="1048823" name="AutoShape 8"/>
          <p:cNvSpPr/>
          <p:nvPr/>
        </p:nvSpPr>
        <p:spPr>
          <a:xfrm rot="0" flipH="0" flipV="0">
            <a:off x="4445000" y="2159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199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rcRect l="0" t="2977" r="0" b="2977"/>
          <a:stretch>
            <a:fillRect/>
          </a:stretch>
        </p:blipFill>
        <p:spPr>
          <a:xfrm rot="0" flipH="0" flipV="0">
            <a:off x="4699000" y="2413000"/>
            <a:ext cx="1333500" cy="1143000"/>
          </a:xfrm>
          <a:prstGeom prst="roundRect">
            <a:avLst>
              <a:gd name="adj" fmla="val 8888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097200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rcRect l="25772" t="0" r="25772" b="0"/>
          <a:stretch>
            <a:fillRect/>
          </a:stretch>
        </p:blipFill>
        <p:spPr>
          <a:xfrm rot="0" flipH="0" flipV="0">
            <a:off x="6159500" y="2413000"/>
            <a:ext cx="1397000" cy="1143000"/>
          </a:xfrm>
          <a:prstGeom prst="roundRect">
            <a:avLst>
              <a:gd name="adj" fmla="val 888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48824" name="AutoShape 11"/>
          <p:cNvSpPr/>
          <p:nvPr/>
        </p:nvSpPr>
        <p:spPr>
          <a:xfrm rot="0" flipH="0" flipV="0">
            <a:off x="4699000" y="3810000"/>
            <a:ext cx="2794000" cy="2159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8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03. 程序烧录上传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点击 IDE 左上角的“上传”按钮，软件将自动编译代码并将固件烧录到连接的 ESP32 开发板中。等待 IDE 底部提示“上传成功”，即完成固件烧录。</a:t>
            </a:r>
          </a:p>
        </p:txBody>
      </p:sp>
      <p:sp>
        <p:nvSpPr>
          <p:cNvPr id="1048825" name="AutoShape 12"/>
          <p:cNvSpPr/>
          <p:nvPr/>
        </p:nvSpPr>
        <p:spPr>
          <a:xfrm rot="0" flipH="0" flipV="0">
            <a:off x="8128000" y="2159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201" name="Picture 13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rcRect l="0" t="11931" r="0" b="11931"/>
          <a:stretch>
            <a:fillRect/>
          </a:stretch>
        </p:blipFill>
        <p:spPr>
          <a:xfrm rot="0" flipH="0" flipV="0">
            <a:off x="8382000" y="2413000"/>
            <a:ext cx="2794000" cy="1397000"/>
          </a:xfrm>
          <a:prstGeom prst="roundRect">
            <a:avLst>
              <a:gd name="adj" fmla="val 727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48826" name="AutoShape 14"/>
          <p:cNvSpPr/>
          <p:nvPr/>
        </p:nvSpPr>
        <p:spPr>
          <a:xfrm rot="0" flipH="0" flipV="0">
            <a:off x="8382000" y="4064000"/>
            <a:ext cx="2794000" cy="2032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8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04. 串口调试验证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打开 IDE 的“串口监视器”，设置波特率为 115200。查看设备的启动日志，确认 WiFi 是否成功连接，以及传感器数据是否按预期正常上报到云端。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3" name="AutoShape 2"/>
          <p:cNvSpPr/>
          <p:nvPr/>
        </p:nvSpPr>
        <p:spPr>
          <a:xfrm rot="0" flipH="0" flipV="0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834" name="AutoShape 3"/>
          <p:cNvSpPr/>
          <p:nvPr/>
        </p:nvSpPr>
        <p:spPr>
          <a:xfrm rot="0" flipH="0" flipV="0">
            <a:off x="762000" y="508000"/>
            <a:ext cx="10668000" cy="635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32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项目创新点与特色</a:t>
            </a:r>
            <a:endParaRPr sz="1100" lang="en-US"/>
          </a:p>
        </p:txBody>
      </p:sp>
      <p:sp>
        <p:nvSpPr>
          <p:cNvPr id="1048835" name="AutoShape 4"/>
          <p:cNvSpPr/>
          <p:nvPr/>
        </p:nvSpPr>
        <p:spPr>
          <a:xfrm rot="0" flipH="0" flipV="0">
            <a:off x="762000" y="165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202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 flipH="0" flipV="0">
            <a:off x="1066800" y="2171700"/>
            <a:ext cx="812800" cy="812800"/>
          </a:xfrm>
          <a:prstGeom prst="rect"/>
        </p:spPr>
      </p:pic>
      <p:sp>
        <p:nvSpPr>
          <p:cNvPr id="1048836" name="AutoShape 6"/>
          <p:cNvSpPr/>
          <p:nvPr/>
        </p:nvSpPr>
        <p:spPr>
          <a:xfrm rot="0" flipH="0" flipV="0">
            <a:off x="2133600" y="1905000"/>
            <a:ext cx="3556000" cy="1651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0000"/>
              </a:lnSpc>
            </a:pPr>
            <a:r>
              <a:rPr b="1" sz="18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技术整合创新：端云一体化解决方案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成功整合ESP32硬件平台、阿里云物联网平台和移动APP，构建“端-管-云-端”完整闭环系统，打通全链路数据传输。</a:t>
            </a:r>
          </a:p>
        </p:txBody>
      </p:sp>
      <p:sp>
        <p:nvSpPr>
          <p:cNvPr id="1048837" name="AutoShape 7"/>
          <p:cNvSpPr/>
          <p:nvPr/>
        </p:nvSpPr>
        <p:spPr>
          <a:xfrm rot="0" flipH="0" flipV="0">
            <a:off x="6223000" y="165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203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 flipH="0" flipV="0">
            <a:off x="6527800" y="2171700"/>
            <a:ext cx="812800" cy="812800"/>
          </a:xfrm>
          <a:prstGeom prst="rect"/>
        </p:spPr>
      </p:pic>
      <p:sp>
        <p:nvSpPr>
          <p:cNvPr id="1048838" name="AutoShape 9"/>
          <p:cNvSpPr/>
          <p:nvPr/>
        </p:nvSpPr>
        <p:spPr>
          <a:xfrm rot="0" flipH="0" flipV="0">
            <a:off x="7594600" y="1905000"/>
            <a:ext cx="3556000" cy="1651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0000"/>
              </a:lnSpc>
            </a:pPr>
            <a:r>
              <a:rPr b="1" sz="18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控制模式创新：兼顾智能与灵活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创新融合“自动恒温控制”与“APP手动精准控制”双模式。系统可按预设策略自动运行，也支持用户随时介入接管，体现“以人为本”的交互理念。</a:t>
            </a:r>
          </a:p>
        </p:txBody>
      </p:sp>
      <p:sp>
        <p:nvSpPr>
          <p:cNvPr id="1048839" name="AutoShape 10"/>
          <p:cNvSpPr/>
          <p:nvPr/>
        </p:nvSpPr>
        <p:spPr>
          <a:xfrm rot="0" flipH="0" flipV="0"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204" name="Picture 11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 rot="0" flipH="0" flipV="0">
            <a:off x="1066800" y="4711700"/>
            <a:ext cx="812800" cy="812800"/>
          </a:xfrm>
          <a:prstGeom prst="rect"/>
        </p:spPr>
      </p:pic>
      <p:sp>
        <p:nvSpPr>
          <p:cNvPr id="1048840" name="AutoShape 12"/>
          <p:cNvSpPr/>
          <p:nvPr/>
        </p:nvSpPr>
        <p:spPr>
          <a:xfrm rot="0" flipH="0" flipV="0">
            <a:off x="2133600" y="4445000"/>
            <a:ext cx="3556000" cy="1651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0000"/>
              </a:lnSpc>
            </a:pPr>
            <a:r>
              <a:rPr b="1" sz="18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数据交互创新：本地与远程协同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打造“双端”数据交互体系：通过OLED屏幕提供设备侧实时本地显示，结合APP实现远程状态监控与历史数据回溯，为用户提供无缝且多维度的数据感知体验。</a:t>
            </a:r>
          </a:p>
        </p:txBody>
      </p:sp>
      <p:sp>
        <p:nvSpPr>
          <p:cNvPr id="1048841" name="AutoShape 13"/>
          <p:cNvSpPr/>
          <p:nvPr/>
        </p:nvSpPr>
        <p:spPr>
          <a:xfrm rot="0" flipH="0" flipV="0">
            <a:off x="6223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205" name="Picture 14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 rot="0" flipH="0" flipV="0">
            <a:off x="6527800" y="4711700"/>
            <a:ext cx="812800" cy="812800"/>
          </a:xfrm>
          <a:prstGeom prst="rect"/>
        </p:spPr>
      </p:pic>
      <p:sp>
        <p:nvSpPr>
          <p:cNvPr id="1048842" name="AutoShape 15"/>
          <p:cNvSpPr/>
          <p:nvPr/>
        </p:nvSpPr>
        <p:spPr>
          <a:xfrm rot="0" flipH="0" flipV="0">
            <a:off x="7594600" y="4445000"/>
            <a:ext cx="3556000" cy="1651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0000"/>
              </a:lnSpc>
            </a:pPr>
            <a:r>
              <a:rPr b="1" sz="18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系统鲁棒性设计：断电数据保护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针对嵌入式设备特性，设计了参数持久化方案。将温度阈值、定时策略等关键配置存储在ESP32的Flash中，实现意外断电后的数据自动恢复，大幅提升系统在复杂环境下的可靠性。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9" name="AutoShape 2"/>
          <p:cNvSpPr/>
          <p:nvPr/>
        </p:nvSpPr>
        <p:spPr>
          <a:xfrm rot="0" flipH="0" flipV="0">
            <a:off x="762000" y="508000"/>
            <a:ext cx="1016000" cy="889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6000" i="0" lang="en-US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sz="1100" lang="en-US"/>
          </a:p>
        </p:txBody>
      </p:sp>
      <p:sp>
        <p:nvSpPr>
          <p:cNvPr id="1048850" name="AutoShape 3"/>
          <p:cNvSpPr/>
          <p:nvPr/>
        </p:nvSpPr>
        <p:spPr>
          <a:xfrm rot="0" flipH="0" flipV="0">
            <a:off x="2032000" y="660400"/>
            <a:ext cx="9398000" cy="762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32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sz="1100" lang="en-US"/>
          </a:p>
        </p:txBody>
      </p:sp>
      <p:sp>
        <p:nvSpPr>
          <p:cNvPr id="1048851" name="AutoShape 4"/>
          <p:cNvSpPr/>
          <p:nvPr/>
        </p:nvSpPr>
        <p:spPr>
          <a:xfrm rot="0" flipH="0" flipV="0">
            <a:off x="762000" y="1778000"/>
            <a:ext cx="10668000" cy="508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2400" i="0" lang="en-US" strike="noStrike" u="non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 SUMMARY · 项目总结</a:t>
            </a:r>
            <a:endParaRPr sz="1100" lang="en-US"/>
          </a:p>
        </p:txBody>
      </p:sp>
      <p:sp>
        <p:nvSpPr>
          <p:cNvPr id="1048852" name="AutoShape 5"/>
          <p:cNvSpPr/>
          <p:nvPr/>
        </p:nvSpPr>
        <p:spPr>
          <a:xfrm rot="0" flipH="0" flipV="0">
            <a:off x="762000" y="2667000"/>
            <a:ext cx="3302000" cy="3429000"/>
          </a:xfrm>
          <a:prstGeom prst="roundRect">
            <a:avLst>
              <a:gd name="adj" fmla="val 4615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206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 flipH="0" flipV="0">
            <a:off x="1066800" y="3048000"/>
            <a:ext cx="558800" cy="558800"/>
          </a:xfrm>
          <a:prstGeom prst="rect"/>
        </p:spPr>
      </p:pic>
      <p:sp>
        <p:nvSpPr>
          <p:cNvPr id="1048853" name="AutoShape 7"/>
          <p:cNvSpPr/>
          <p:nvPr/>
        </p:nvSpPr>
        <p:spPr>
          <a:xfrm rot="0" flipH="0" flipV="0">
            <a:off x="1778000" y="3073400"/>
            <a:ext cx="2032000" cy="508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8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核心成果：系统构建</a:t>
            </a:r>
            <a:endParaRPr sz="1100" lang="en-US"/>
          </a:p>
        </p:txBody>
      </p:sp>
      <p:sp>
        <p:nvSpPr>
          <p:cNvPr id="1048854" name="AutoShape 8"/>
          <p:cNvSpPr/>
          <p:nvPr/>
        </p:nvSpPr>
        <p:spPr>
          <a:xfrm rot="0" flipH="0" flipV="0">
            <a:off x="1016000" y="3937000"/>
            <a:ext cx="2794000" cy="1778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16666"/>
              </a:lnSpc>
            </a:pP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成功实现了一套基于</a:t>
            </a:r>
            <a:r>
              <a:rPr b="1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ESP32</a:t>
            </a: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b="1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阿里云IoT平台</a:t>
            </a: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的完整监控与控制系统。系统集成了环境数据实时采集、自动化智能控制与远程监控配置等核心功能，完成了软硬一体的端云协同架构落地。</a:t>
            </a:r>
            <a:endParaRPr sz="1100" lang="en-US"/>
          </a:p>
        </p:txBody>
      </p:sp>
      <p:sp>
        <p:nvSpPr>
          <p:cNvPr id="1048855" name="AutoShape 9"/>
          <p:cNvSpPr/>
          <p:nvPr/>
        </p:nvSpPr>
        <p:spPr>
          <a:xfrm rot="0" flipH="0" flipV="0">
            <a:off x="4445000" y="2667000"/>
            <a:ext cx="3302000" cy="3429000"/>
          </a:xfrm>
          <a:prstGeom prst="roundRect">
            <a:avLst>
              <a:gd name="adj" fmla="val 4615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207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 flipH="0" flipV="0">
            <a:off x="4749800" y="3048000"/>
            <a:ext cx="558800" cy="558800"/>
          </a:xfrm>
          <a:prstGeom prst="rect"/>
        </p:spPr>
      </p:pic>
      <p:sp>
        <p:nvSpPr>
          <p:cNvPr id="1048856" name="AutoShape 11"/>
          <p:cNvSpPr/>
          <p:nvPr/>
        </p:nvSpPr>
        <p:spPr>
          <a:xfrm rot="0" flipH="0" flipV="0">
            <a:off x="5461000" y="3073400"/>
            <a:ext cx="2032000" cy="508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8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痛点解决：提质增效</a:t>
            </a:r>
            <a:endParaRPr sz="1100" lang="en-US"/>
          </a:p>
        </p:txBody>
      </p:sp>
      <p:sp>
        <p:nvSpPr>
          <p:cNvPr id="1048857" name="AutoShape 12"/>
          <p:cNvSpPr/>
          <p:nvPr/>
        </p:nvSpPr>
        <p:spPr>
          <a:xfrm rot="0" flipH="0" flipV="0">
            <a:off x="4699000" y="3937000"/>
            <a:ext cx="2794000" cy="1778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16666"/>
              </a:lnSpc>
            </a:pP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有效解决了传统农业大棚种植中</a:t>
            </a:r>
            <a:r>
              <a:rPr b="1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人力投入成本高、现场管理效率低</a:t>
            </a: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的行业痛点。通过技术手段实现精细化管理，显著降低了对人工经验的依赖，提升了生产与管理的综合效益。</a:t>
            </a:r>
            <a:endParaRPr sz="1100" lang="en-US"/>
          </a:p>
        </p:txBody>
      </p:sp>
      <p:sp>
        <p:nvSpPr>
          <p:cNvPr id="1048858" name="AutoShape 13"/>
          <p:cNvSpPr/>
          <p:nvPr/>
        </p:nvSpPr>
        <p:spPr>
          <a:xfrm rot="0" flipH="0" flipV="0">
            <a:off x="8128000" y="2667000"/>
            <a:ext cx="3302000" cy="3429000"/>
          </a:xfrm>
          <a:prstGeom prst="roundRect">
            <a:avLst>
              <a:gd name="adj" fmla="val 4615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208" name="Picture 14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 flipH="0" flipV="0">
            <a:off x="8432800" y="3048000"/>
            <a:ext cx="558800" cy="558800"/>
          </a:xfrm>
          <a:prstGeom prst="rect"/>
        </p:spPr>
      </p:pic>
      <p:sp>
        <p:nvSpPr>
          <p:cNvPr id="1048859" name="AutoShape 15"/>
          <p:cNvSpPr/>
          <p:nvPr/>
        </p:nvSpPr>
        <p:spPr>
          <a:xfrm rot="0" flipH="0" flipV="0">
            <a:off x="9144000" y="3073400"/>
            <a:ext cx="2032000" cy="508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8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应用价值：推广示范</a:t>
            </a:r>
            <a:endParaRPr sz="1100" lang="en-US"/>
          </a:p>
        </p:txBody>
      </p:sp>
      <p:sp>
        <p:nvSpPr>
          <p:cNvPr id="1048860" name="AutoShape 16"/>
          <p:cNvSpPr/>
          <p:nvPr/>
        </p:nvSpPr>
        <p:spPr>
          <a:xfrm rot="0" flipH="0" flipV="0">
            <a:off x="8382000" y="3937000"/>
            <a:ext cx="2794000" cy="1778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16666"/>
              </a:lnSpc>
            </a:pP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本方案兼顾了</a:t>
            </a:r>
            <a:r>
              <a:rPr b="1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低成本硬件选型</a:t>
            </a: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b="1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高可行性落地能力</a:t>
            </a:r>
            <a:r>
              <a:rPr b="0" sz="13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，避免了复杂技术带来的实施门槛。为中小规模的智慧农业升级提供了一套可复制、易部署的参考范本，具备良好的行业推广潜力。</a:t>
            </a:r>
            <a:endParaRPr sz="1100"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7" name="AutoShape 2"/>
          <p:cNvSpPr/>
          <p:nvPr/>
        </p:nvSpPr>
        <p:spPr>
          <a:xfrm rot="0" flipH="0" flipV="0">
            <a:off x="762000" y="508000"/>
            <a:ext cx="10668000" cy="571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32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06 总结与展望</a:t>
            </a:r>
            <a:endParaRPr sz="1100" lang="en-US"/>
          </a:p>
        </p:txBody>
      </p:sp>
      <p:sp>
        <p:nvSpPr>
          <p:cNvPr id="1048868" name="AutoShape 3"/>
          <p:cNvSpPr/>
          <p:nvPr/>
        </p:nvSpPr>
        <p:spPr>
          <a:xfrm rot="0" flipH="0" flipV="0">
            <a:off x="762000" y="1270000"/>
            <a:ext cx="10668000" cy="381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2000" i="0" lang="en-US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不足与展望 · Gaps &amp; Future Outlook</a:t>
            </a:r>
            <a:endParaRPr sz="1100" lang="en-US"/>
          </a:p>
        </p:txBody>
      </p:sp>
      <p:sp>
        <p:nvSpPr>
          <p:cNvPr id="1048869" name="AutoShape 4"/>
          <p:cNvSpPr/>
          <p:nvPr/>
        </p:nvSpPr>
        <p:spPr>
          <a:xfrm rot="0" flipH="0" flipV="0">
            <a:off x="762000" y="2032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209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 flipH="0" flipV="0">
            <a:off x="1066800" y="2336800"/>
            <a:ext cx="304800" cy="304800"/>
          </a:xfrm>
          <a:prstGeom prst="rect"/>
        </p:spPr>
      </p:pic>
      <p:sp>
        <p:nvSpPr>
          <p:cNvPr id="1048870" name="AutoShape 6"/>
          <p:cNvSpPr/>
          <p:nvPr/>
        </p:nvSpPr>
        <p:spPr>
          <a:xfrm rot="0" flipH="0" flipV="0">
            <a:off x="1524000" y="2311400"/>
            <a:ext cx="3810000" cy="381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8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当前不足 Current Gaps</a:t>
            </a:r>
            <a:endParaRPr sz="1100" lang="en-US"/>
          </a:p>
        </p:txBody>
      </p:sp>
      <p:sp>
        <p:nvSpPr>
          <p:cNvPr id="1048871" name="AutoShape 7"/>
          <p:cNvSpPr/>
          <p:nvPr/>
        </p:nvSpPr>
        <p:spPr>
          <a:xfrm rot="0" flipH="0" flipV="0">
            <a:off x="1016000" y="3048000"/>
            <a:ext cx="4699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210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 flipH="0" flipV="0">
            <a:off x="1206500" y="3302000"/>
            <a:ext cx="406400" cy="406400"/>
          </a:xfrm>
          <a:prstGeom prst="rect"/>
        </p:spPr>
      </p:pic>
      <p:sp>
        <p:nvSpPr>
          <p:cNvPr id="1048872" name="AutoShape 9"/>
          <p:cNvSpPr/>
          <p:nvPr/>
        </p:nvSpPr>
        <p:spPr>
          <a:xfrm rot="0" flipH="0" flipV="0">
            <a:off x="1905000" y="3175000"/>
            <a:ext cx="3683000" cy="698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5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数据存储与分析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25000"/>
              </a:lnSpc>
            </a:pPr>
            <a:r>
              <a:rPr b="0" sz="12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缺乏对历史数据的深度挖掘、统计分析与直观的可视化展示。</a:t>
            </a:r>
          </a:p>
        </p:txBody>
      </p:sp>
      <p:sp>
        <p:nvSpPr>
          <p:cNvPr id="1048873" name="AutoShape 10"/>
          <p:cNvSpPr/>
          <p:nvPr/>
        </p:nvSpPr>
        <p:spPr>
          <a:xfrm rot="0" flipH="0" flipV="0">
            <a:off x="1016000" y="4191000"/>
            <a:ext cx="4699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211" name="Picture 11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 flipH="0" flipV="0">
            <a:off x="1206500" y="4445000"/>
            <a:ext cx="406400" cy="406400"/>
          </a:xfrm>
          <a:prstGeom prst="rect"/>
        </p:spPr>
      </p:pic>
      <p:sp>
        <p:nvSpPr>
          <p:cNvPr id="1048874" name="AutoShape 12"/>
          <p:cNvSpPr/>
          <p:nvPr/>
        </p:nvSpPr>
        <p:spPr>
          <a:xfrm rot="0" flipH="0" flipV="0">
            <a:off x="1905000" y="4318000"/>
            <a:ext cx="3683000" cy="698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5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主动报警机制缺失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25000"/>
              </a:lnSpc>
            </a:pPr>
            <a:r>
              <a:rPr b="0" sz="12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系统目前仅支持被动查看状态，未实现异常情况的实时主动报警功能。</a:t>
            </a:r>
          </a:p>
        </p:txBody>
      </p:sp>
      <p:sp>
        <p:nvSpPr>
          <p:cNvPr id="1048875" name="AutoShape 13"/>
          <p:cNvSpPr/>
          <p:nvPr/>
        </p:nvSpPr>
        <p:spPr>
          <a:xfrm rot="0" flipH="0" flipV="0">
            <a:off x="1016000" y="5270500"/>
            <a:ext cx="4699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212" name="Picture 14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 rot="0" flipH="0" flipV="0">
            <a:off x="1206500" y="5524500"/>
            <a:ext cx="406400" cy="406400"/>
          </a:xfrm>
          <a:prstGeom prst="rect"/>
        </p:spPr>
      </p:pic>
      <p:sp>
        <p:nvSpPr>
          <p:cNvPr id="1048876" name="AutoShape 15"/>
          <p:cNvSpPr/>
          <p:nvPr/>
        </p:nvSpPr>
        <p:spPr>
          <a:xfrm rot="0" flipH="0" flipV="0">
            <a:off x="1905000" y="5397500"/>
            <a:ext cx="3683000" cy="698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5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设备扩展性受限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25000"/>
              </a:lnSpc>
            </a:pPr>
            <a:r>
              <a:rPr b="0" sz="12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对新增不同类型传感器或设备的支持需要额外的开发适配工作。</a:t>
            </a:r>
          </a:p>
        </p:txBody>
      </p:sp>
      <p:sp>
        <p:nvSpPr>
          <p:cNvPr id="1048877" name="AutoShape 16"/>
          <p:cNvSpPr/>
          <p:nvPr/>
        </p:nvSpPr>
        <p:spPr>
          <a:xfrm rot="0" flipH="0" flipV="0">
            <a:off x="6223000" y="2032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213" name="Picture 17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 rot="0" flipH="0" flipV="0">
            <a:off x="6527800" y="2336800"/>
            <a:ext cx="304800" cy="304800"/>
          </a:xfrm>
          <a:prstGeom prst="rect"/>
        </p:spPr>
      </p:pic>
      <p:sp>
        <p:nvSpPr>
          <p:cNvPr id="1048878" name="AutoShape 18"/>
          <p:cNvSpPr/>
          <p:nvPr/>
        </p:nvSpPr>
        <p:spPr>
          <a:xfrm rot="0" flipH="0" flipV="0">
            <a:off x="6985000" y="2311400"/>
            <a:ext cx="3810000" cy="381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8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 Future Outlook</a:t>
            </a:r>
            <a:endParaRPr sz="1100" lang="en-US"/>
          </a:p>
        </p:txBody>
      </p:sp>
      <p:pic>
        <p:nvPicPr>
          <p:cNvPr id="2097214" name="Picture 19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rcRect l="0" t="2380" r="0" b="2380"/>
          <a:stretch>
            <a:fillRect/>
          </a:stretch>
        </p:blipFill>
        <p:spPr>
          <a:xfrm rot="0" flipH="0" flipV="0">
            <a:off x="6477000" y="2921000"/>
            <a:ext cx="2222500" cy="1587500"/>
          </a:xfrm>
          <a:prstGeom prst="roundRect">
            <a:avLst>
              <a:gd name="adj" fmla="val 6400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id="1048879" name="AutoShape 20"/>
          <p:cNvSpPr/>
          <p:nvPr/>
        </p:nvSpPr>
        <p:spPr>
          <a:xfrm rot="0" flipH="0" flipV="0">
            <a:off x="8890000" y="2921000"/>
            <a:ext cx="2286000" cy="1587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08333"/>
              </a:lnSpc>
            </a:pPr>
            <a:r>
              <a:rPr b="1" sz="1400" i="0" lang="en-US" strike="noStrike" u="non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引入数据智能与绿色能源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08333"/>
              </a:lnSpc>
            </a:pPr>
            <a:r>
              <a:rPr b="0" sz="1100" i="0" lang="en-US" strike="noStrike" u="non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结合云端算力实现生产预见性控制，并利用太阳能打造零碳节能系统。</a:t>
            </a:r>
          </a:p>
        </p:txBody>
      </p:sp>
      <p:sp>
        <p:nvSpPr>
          <p:cNvPr id="1048880" name="AutoShape 21"/>
          <p:cNvSpPr/>
          <p:nvPr/>
        </p:nvSpPr>
        <p:spPr>
          <a:xfrm rot="0" flipH="0" flipV="0">
            <a:off x="6477000" y="4699000"/>
            <a:ext cx="22225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215" name="Picture 22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 rot="0" flipH="0" flipV="0">
            <a:off x="6604000" y="4889500"/>
            <a:ext cx="304800" cy="304800"/>
          </a:xfrm>
          <a:prstGeom prst="rect"/>
        </p:spPr>
      </p:pic>
      <p:sp>
        <p:nvSpPr>
          <p:cNvPr id="1048881" name="AutoShape 23"/>
          <p:cNvSpPr/>
          <p:nvPr/>
        </p:nvSpPr>
        <p:spPr>
          <a:xfrm rot="0" flipH="0" flipV="0">
            <a:off x="6985000" y="4851400"/>
            <a:ext cx="1587500" cy="1079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3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多维报警体系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25000"/>
              </a:lnSpc>
            </a:pPr>
            <a:r>
              <a:rPr b="0" sz="11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增加短信、APP推送、语音电话等多种报警方式，确保信息触达。</a:t>
            </a:r>
          </a:p>
        </p:txBody>
      </p:sp>
      <p:sp>
        <p:nvSpPr>
          <p:cNvPr id="1048882" name="AutoShape 24"/>
          <p:cNvSpPr/>
          <p:nvPr/>
        </p:nvSpPr>
        <p:spPr>
          <a:xfrm rot="0" flipH="0" flipV="0">
            <a:off x="8953500" y="4699000"/>
            <a:ext cx="22225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algn="tl" blurRad="444500" dir="2700000" dist="190500" rotWithShape="0">
              <a:srgbClr val="000000">
                <a:alpha val="25000"/>
              </a:srgbClr>
            </a:outerShdw>
          </a:effectLst>
        </p:spPr>
        <p:txBody>
          <a:bodyPr anchor="ctr" bIns="63500" lIns="63500" rIns="63500" rtlCol="0" tIns="63500" vert="horz" wrap="square"/>
          <a:p>
            <a:pPr algn="ctr"/>
          </a:p>
        </p:txBody>
      </p:sp>
      <p:pic>
        <p:nvPicPr>
          <p:cNvPr id="2097216" name="Picture 25"/>
          <p:cNvPicPr>
            <a:picLocks noChangeAspect="1"/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 rot="0" flipH="0" flipV="0">
            <a:off x="9080500" y="4889500"/>
            <a:ext cx="304800" cy="304800"/>
          </a:xfrm>
          <a:prstGeom prst="rect"/>
        </p:spPr>
      </p:pic>
      <p:sp>
        <p:nvSpPr>
          <p:cNvPr id="1048883" name="AutoShape 26"/>
          <p:cNvSpPr/>
          <p:nvPr/>
        </p:nvSpPr>
        <p:spPr>
          <a:xfrm rot="0" flipH="0" flipV="0">
            <a:off x="9461500" y="4851400"/>
            <a:ext cx="1587500" cy="10795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l" indent="0">
              <a:lnSpc>
                <a:spcPct val="125000"/>
              </a:lnSpc>
            </a:pPr>
            <a:r>
              <a:rPr b="1" sz="1300" i="0" lang="en-US" strike="noStrike" u="non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构建开放平台</a:t>
            </a:r>
            <a:r>
              <a:rPr b="0" sz="1600" i="0" lang="en-US" strike="noStrike" u="non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1100" lang="en-US"/>
          </a:p>
          <a:p>
            <a:pPr algn="l" indent="0">
              <a:lnSpc>
                <a:spcPct val="125000"/>
              </a:lnSpc>
            </a:pPr>
            <a:r>
              <a:rPr b="0" sz="11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设计标准化接口与模块化架构，降低接入成本，灵活适配新设备。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0" name="AutoShape 2"/>
          <p:cNvSpPr/>
          <p:nvPr/>
        </p:nvSpPr>
        <p:spPr>
          <a:xfrm rot="0" flipH="0" flipV="0">
            <a:off x="0" y="2794000"/>
            <a:ext cx="12192000" cy="1016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ctr" indent="0">
              <a:lnSpc>
                <a:spcPct val="125000"/>
              </a:lnSpc>
            </a:pPr>
            <a:r>
              <a:rPr b="1" sz="4800" i="0" lang="en-US" strike="noStrike" u="non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sz="1100" lang="en-US"/>
          </a:p>
        </p:txBody>
      </p:sp>
      <p:sp>
        <p:nvSpPr>
          <p:cNvPr id="1048891" name="AutoShape 3"/>
          <p:cNvSpPr/>
          <p:nvPr/>
        </p:nvSpPr>
        <p:spPr>
          <a:xfrm rot="0" flipH="0" flipV="0">
            <a:off x="5588000" y="419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anchor="ctr" bIns="63500" lIns="63500" rIns="63500" rtlCol="0" tIns="63500" vert="horz" wrap="square"/>
          <a:p>
            <a:pPr algn="ctr"/>
          </a:p>
        </p:txBody>
      </p:sp>
      <p:sp>
        <p:nvSpPr>
          <p:cNvPr id="1048892" name="AutoShape 4"/>
          <p:cNvSpPr/>
          <p:nvPr/>
        </p:nvSpPr>
        <p:spPr>
          <a:xfrm rot="0" flipH="0" flipV="0">
            <a:off x="0" y="4953000"/>
            <a:ext cx="12192000" cy="762000"/>
          </a:xfrm>
          <a:prstGeom prst="rect"/>
          <a:noFill/>
          <a:ln w="12700" cap="flat" cmpd="sng">
            <a:noFill/>
            <a:prstDash val="solid"/>
            <a:round/>
          </a:ln>
        </p:spPr>
        <p:txBody>
          <a:bodyPr anchor="ctr" anchorCtr="0" bIns="0" lIns="0" rIns="0" rtlCol="0" tIns="0" vert="horz" wrap="square"/>
          <a:p>
            <a:pPr algn="ctr" indent="0">
              <a:lnSpc>
                <a:spcPct val="125000"/>
              </a:lnSpc>
            </a:pPr>
            <a:r>
              <a:rPr b="0" sz="2400" i="0" lang="en-US" strike="noStrike" u="non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敬请各位评委老师批评指正</a:t>
            </a:r>
            <a:endParaRPr sz="11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V2364A</dc:creator>
  <dcterms:created xsi:type="dcterms:W3CDTF">2026-05-20T21:27:35Z</dcterms:created>
  <dcterms:modified xsi:type="dcterms:W3CDTF">2026-05-22T05:37:50Z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964b45341b46410082d3df69c4c1261a</vt:lpwstr>
  </property>
</Properties>
</file>